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647"/>
  </p:normalViewPr>
  <p:slideViewPr>
    <p:cSldViewPr snapToGrid="0">
      <p:cViewPr varScale="1">
        <p:scale>
          <a:sx n="149" d="100"/>
          <a:sy n="149" d="100"/>
        </p:scale>
        <p:origin x="19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top-rule"/>
          <p:cNvCxnSpPr/>
          <p:nvPr/>
        </p:nvCxnSpPr>
        <p:spPr>
          <a:xfrm>
            <a:off x="400050" y="295275"/>
            <a:ext cx="11391900" cy="9525"/>
          </a:xfrm>
          <a:prstGeom prst="straightConnector1">
            <a:avLst/>
          </a:prstGeom>
          <a:ln w="9525">
            <a:solidFill>
              <a:srgbClr val="C7D0DA"/>
            </a:solidFill>
            <a:prstDash val="solid"/>
          </a:ln>
        </p:spPr>
      </p:cxnSp>
      <p:sp>
        <p:nvSpPr>
          <p:cNvPr id="2" name="page-number">
            <a:extLst>
              <a:ext uri="{FF2B5EF4-FFF2-40B4-BE49-F238E27FC236}">
                <a16:creationId xmlns:a16="http://schemas.microsoft.com/office/drawing/2014/main" id="{D50697A7-0C6A-41F3-8FD3-39D00690D105}"/>
              </a:ext>
            </a:extLst>
          </p:cNvPr>
          <p:cNvSpPr>
            <a:spLocks noGrp="1"/>
          </p:cNvSpPr>
          <p:nvPr/>
        </p:nvSpPr>
        <p:spPr>
          <a:xfrm>
            <a:off x="11125200" y="6305550"/>
            <a:ext cx="6667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3" name="accent-bar">
            <a:extLst>
              <a:ext uri="{FF2B5EF4-FFF2-40B4-BE49-F238E27FC236}">
                <a16:creationId xmlns:a16="http://schemas.microsoft.com/office/drawing/2014/main" id="{C48267AB-AD80-4E99-9C51-68ACF1E9AFD6}"/>
              </a:ext>
            </a:extLst>
          </p:cNvPr>
          <p:cNvSpPr>
            <a:spLocks noGrp="1"/>
          </p:cNvSpPr>
          <p:nvPr/>
        </p:nvSpPr>
        <p:spPr>
          <a:xfrm>
            <a:off x="400050" y="647700"/>
            <a:ext cx="609600" cy="76200"/>
          </a:xfrm>
          <a:prstGeom prst="rect">
            <a:avLst/>
          </a:prstGeom>
          <a:solidFill>
            <a:srgbClr val="18BCEB"/>
          </a:solidFill>
          <a:ln w="0">
            <a:solidFill>
              <a:srgbClr val="18BCE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cover-eyebrow">
            <a:extLst>
              <a:ext uri="{FF2B5EF4-FFF2-40B4-BE49-F238E27FC236}">
                <a16:creationId xmlns:a16="http://schemas.microsoft.com/office/drawing/2014/main" id="{110A6850-D826-4F17-B4C1-ADDCF048D0DA}"/>
              </a:ext>
            </a:extLst>
          </p:cNvPr>
          <p:cNvSpPr>
            <a:spLocks noGrp="1"/>
          </p:cNvSpPr>
          <p:nvPr/>
        </p:nvSpPr>
        <p:spPr>
          <a:xfrm>
            <a:off x="400050" y="895350"/>
            <a:ext cx="5143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007FCB"/>
                </a:solidFill>
                <a:latin typeface="Arial"/>
                <a:ea typeface="Arial"/>
                <a:cs typeface="Arial"/>
              </a:defRPr>
            </a:pPr>
            <a:r>
              <a:t>第八届 CCF 开源创新大赛 · 星绽开源社区贡献赛题</a:t>
            </a:r>
          </a:p>
        </p:txBody>
      </p:sp>
      <p:sp>
        <p:nvSpPr>
          <p:cNvPr id="5" name="cover-title">
            <a:extLst>
              <a:ext uri="{FF2B5EF4-FFF2-40B4-BE49-F238E27FC236}">
                <a16:creationId xmlns:a16="http://schemas.microsoft.com/office/drawing/2014/main" id="{CCFD7711-B331-4B43-9581-86BE96A898B1}"/>
              </a:ext>
            </a:extLst>
          </p:cNvPr>
          <p:cNvSpPr>
            <a:spLocks noGrp="1"/>
          </p:cNvSpPr>
          <p:nvPr/>
        </p:nvSpPr>
        <p:spPr>
          <a:xfrm>
            <a:off x="400050" y="1447800"/>
            <a:ext cx="5334000" cy="15621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900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Asterinas
GDB Helpers</a:t>
            </a:r>
          </a:p>
        </p:txBody>
      </p:sp>
      <p:sp>
        <p:nvSpPr>
          <p:cNvPr id="6" name="cover-subtitle">
            <a:extLst>
              <a:ext uri="{FF2B5EF4-FFF2-40B4-BE49-F238E27FC236}">
                <a16:creationId xmlns:a16="http://schemas.microsoft.com/office/drawing/2014/main" id="{142ADB23-6C3F-458C-A7AC-7A70B3C688B1}"/>
              </a:ext>
            </a:extLst>
          </p:cNvPr>
          <p:cNvSpPr>
            <a:spLocks noGrp="1"/>
          </p:cNvSpPr>
          <p:nvPr/>
        </p:nvSpPr>
        <p:spPr>
          <a:xfrm>
            <a:off x="400050" y="3219450"/>
            <a:ext cx="4953000" cy="628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025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把一次真实排障，沉淀成可验证的 Debug Workflow</a:t>
            </a:r>
          </a:p>
        </p:txBody>
      </p:sp>
      <p:sp>
        <p:nvSpPr>
          <p:cNvPr id="7" name="cover-info">
            <a:extLst>
              <a:ext uri="{FF2B5EF4-FFF2-40B4-BE49-F238E27FC236}">
                <a16:creationId xmlns:a16="http://schemas.microsoft.com/office/drawing/2014/main" id="{072F4E86-0F32-47D2-806B-5DBF69327B91}"/>
              </a:ext>
            </a:extLst>
          </p:cNvPr>
          <p:cNvSpPr>
            <a:spLocks noGrp="1"/>
          </p:cNvSpPr>
          <p:nvPr/>
        </p:nvSpPr>
        <p:spPr>
          <a:xfrm>
            <a:off x="400050" y="4667250"/>
            <a:ext cx="4933950" cy="933450"/>
          </a:xfrm>
          <a:prstGeom prst="roundRect">
            <a:avLst>
              <a:gd name="adj" fmla="val 8163"/>
            </a:avLst>
          </a:prstGeom>
          <a:solidFill>
            <a:srgbClr val="EAF8FD"/>
          </a:solidFill>
          <a:ln w="9525">
            <a:solidFill>
              <a:srgbClr val="BCE5F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cover-info-text">
            <a:extLst>
              <a:ext uri="{FF2B5EF4-FFF2-40B4-BE49-F238E27FC236}">
                <a16:creationId xmlns:a16="http://schemas.microsoft.com/office/drawing/2014/main" id="{28C118AF-D7E0-4506-872C-77476B1066C4}"/>
              </a:ext>
            </a:extLst>
          </p:cNvPr>
          <p:cNvSpPr>
            <a:spLocks noGrp="1"/>
          </p:cNvSpPr>
          <p:nvPr/>
        </p:nvSpPr>
        <p:spPr>
          <a:xfrm>
            <a:off x="628650" y="4895850"/>
            <a:ext cx="4286250" cy="514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主成果：PR #3412
设计讨论：Issue #3094</a:t>
            </a:r>
          </a:p>
        </p:txBody>
      </p:sp>
      <p:sp>
        <p:nvSpPr>
          <p:cNvPr id="9" name="cover-image-backing">
            <a:extLst>
              <a:ext uri="{FF2B5EF4-FFF2-40B4-BE49-F238E27FC236}">
                <a16:creationId xmlns:a16="http://schemas.microsoft.com/office/drawing/2014/main" id="{2FD5435B-4194-402C-AC0D-A696E602385C}"/>
              </a:ext>
            </a:extLst>
          </p:cNvPr>
          <p:cNvSpPr>
            <a:spLocks noGrp="1"/>
          </p:cNvSpPr>
          <p:nvPr/>
        </p:nvSpPr>
        <p:spPr>
          <a:xfrm>
            <a:off x="5953125" y="723900"/>
            <a:ext cx="5838825" cy="4953000"/>
          </a:xfrm>
          <a:prstGeom prst="roundRect">
            <a:avLst>
              <a:gd name="adj" fmla="val 1538"/>
            </a:avLst>
          </a:prstGeom>
          <a:solidFill>
            <a:srgbClr val="0C1826"/>
          </a:solidFill>
          <a:ln w="9525">
            <a:solidFill>
              <a:srgbClr val="0C182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cover-footer">
            <a:extLst>
              <a:ext uri="{FF2B5EF4-FFF2-40B4-BE49-F238E27FC236}">
                <a16:creationId xmlns:a16="http://schemas.microsoft.com/office/drawing/2014/main" id="{4DFB5612-D478-4E5D-B63D-D4A867E94931}"/>
              </a:ext>
            </a:extLst>
          </p:cNvPr>
          <p:cNvSpPr>
            <a:spLocks noGrp="1"/>
          </p:cNvSpPr>
          <p:nvPr/>
        </p:nvSpPr>
        <p:spPr>
          <a:xfrm>
            <a:off x="400050" y="6019800"/>
            <a:ext cx="49530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搭把手战队（进程使命</a:t>
            </a:r>
            <a:r>
              <a:rPr dirty="0"/>
              <a:t>）· </a:t>
            </a:r>
            <a:r>
              <a:rPr dirty="0" err="1"/>
              <a:t>泽文</a:t>
            </a:r>
            <a:r>
              <a:rPr lang="zh-CN" altLang="en-US" dirty="0"/>
              <a:t>（刘超）</a:t>
            </a:r>
            <a:r>
              <a:rPr dirty="0"/>
              <a:t> / </a:t>
            </a:r>
            <a:r>
              <a:rPr dirty="0" err="1"/>
              <a:t>邵志航</a:t>
            </a:r>
            <a:endParaRPr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53125" y="1957369"/>
            <a:ext cx="5838825" cy="2486062"/>
          </a:xfrm>
          <a:prstGeom prst="roundRect">
            <a:avLst>
              <a:gd name="adj" fmla="val 2308"/>
            </a:avLst>
          </a:prstGeom>
        </p:spPr>
      </p:pic>
    </p:spTree>
    <p:extLst>
      <p:ext uri="{BB962C8B-B14F-4D97-AF65-F5344CB8AC3E}">
        <p14:creationId xmlns:p14="http://schemas.microsoft.com/office/powerpoint/2010/main" val="526576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top-rule"/>
          <p:cNvCxnSpPr/>
          <p:nvPr/>
        </p:nvCxnSpPr>
        <p:spPr>
          <a:xfrm>
            <a:off x="400050" y="295275"/>
            <a:ext cx="11391900" cy="9525"/>
          </a:xfrm>
          <a:prstGeom prst="straightConnector1">
            <a:avLst/>
          </a:prstGeom>
          <a:ln w="9525">
            <a:solidFill>
              <a:srgbClr val="C7D0DA"/>
            </a:solidFill>
            <a:prstDash val="solid"/>
          </a:ln>
        </p:spPr>
      </p:cxnSp>
      <p:sp>
        <p:nvSpPr>
          <p:cNvPr id="2" name="page-number">
            <a:extLst>
              <a:ext uri="{FF2B5EF4-FFF2-40B4-BE49-F238E27FC236}">
                <a16:creationId xmlns:a16="http://schemas.microsoft.com/office/drawing/2014/main" id="{20BD7492-6299-4488-8468-C3F858B6DBC6}"/>
              </a:ext>
            </a:extLst>
          </p:cNvPr>
          <p:cNvSpPr>
            <a:spLocks noGrp="1"/>
          </p:cNvSpPr>
          <p:nvPr/>
        </p:nvSpPr>
        <p:spPr>
          <a:xfrm>
            <a:off x="11125200" y="6305550"/>
            <a:ext cx="6667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3" name="problem-title">
            <a:extLst>
              <a:ext uri="{FF2B5EF4-FFF2-40B4-BE49-F238E27FC236}">
                <a16:creationId xmlns:a16="http://schemas.microsoft.com/office/drawing/2014/main" id="{425BC812-08C8-4191-BDF0-B62891EF56A9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0287000" cy="552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925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一次断错误排障，暴露了 Rust 内核调试的注意力成本</a:t>
            </a:r>
          </a:p>
        </p:txBody>
      </p:sp>
      <p:sp>
        <p:nvSpPr>
          <p:cNvPr id="4" name="problem-kicker">
            <a:extLst>
              <a:ext uri="{FF2B5EF4-FFF2-40B4-BE49-F238E27FC236}">
                <a16:creationId xmlns:a16="http://schemas.microsoft.com/office/drawing/2014/main" id="{E044AAEE-E4C2-4827-A786-F2AFE20214FF}"/>
              </a:ext>
            </a:extLst>
          </p:cNvPr>
          <p:cNvSpPr>
            <a:spLocks noGrp="1"/>
          </p:cNvSpPr>
          <p:nvPr/>
        </p:nvSpPr>
        <p:spPr>
          <a:xfrm>
            <a:off x="400050" y="1266825"/>
            <a:ext cx="68580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起点不是抽象需求，而是一次真实的进程加载异常。</a:t>
            </a:r>
          </a:p>
        </p:txBody>
      </p:sp>
      <p:cxnSp>
        <p:nvCxnSpPr>
          <p:cNvPr id="43" name="debug-flow-line"/>
          <p:cNvCxnSpPr/>
          <p:nvPr/>
        </p:nvCxnSpPr>
        <p:spPr>
          <a:xfrm>
            <a:off x="895350" y="2571750"/>
            <a:ext cx="5105400" cy="9525"/>
          </a:xfrm>
          <a:prstGeom prst="straightConnector1">
            <a:avLst/>
          </a:prstGeom>
          <a:ln w="19050">
            <a:solidFill>
              <a:srgbClr val="007FCB"/>
            </a:solidFill>
            <a:prstDash val="solid"/>
          </a:ln>
        </p:spPr>
      </p:cxnSp>
      <p:cxnSp>
        <p:nvCxnSpPr>
          <p:cNvPr id="44" name="debug-flow-1"/>
          <p:cNvCxnSpPr/>
          <p:nvPr/>
        </p:nvCxnSpPr>
        <p:spPr>
          <a:xfrm>
            <a:off x="2019300" y="2571750"/>
            <a:ext cx="571500" cy="9525"/>
          </a:xfrm>
          <a:prstGeom prst="straightConnector1">
            <a:avLst/>
          </a:prstGeom>
          <a:ln w="19050">
            <a:solidFill>
              <a:srgbClr val="007FCB"/>
            </a:solidFill>
            <a:prstDash val="solid"/>
          </a:ln>
        </p:spPr>
      </p:cxnSp>
      <p:cxnSp>
        <p:nvCxnSpPr>
          <p:cNvPr id="45" name="debug-flow-2"/>
          <p:cNvCxnSpPr/>
          <p:nvPr/>
        </p:nvCxnSpPr>
        <p:spPr>
          <a:xfrm>
            <a:off x="3714750" y="2571750"/>
            <a:ext cx="571500" cy="9525"/>
          </a:xfrm>
          <a:prstGeom prst="straightConnector1">
            <a:avLst/>
          </a:prstGeom>
          <a:ln w="19050">
            <a:solidFill>
              <a:srgbClr val="007FCB"/>
            </a:solidFill>
            <a:prstDash val="solid"/>
          </a:ln>
        </p:spPr>
      </p:cxnSp>
      <p:cxnSp>
        <p:nvCxnSpPr>
          <p:cNvPr id="46" name="debug-flow-3"/>
          <p:cNvCxnSpPr/>
          <p:nvPr/>
        </p:nvCxnSpPr>
        <p:spPr>
          <a:xfrm>
            <a:off x="5410200" y="2571750"/>
            <a:ext cx="571500" cy="9525"/>
          </a:xfrm>
          <a:prstGeom prst="straightConnector1">
            <a:avLst/>
          </a:prstGeom>
          <a:ln w="19050">
            <a:solidFill>
              <a:srgbClr val="007FCB"/>
            </a:solidFill>
            <a:prstDash val="solid"/>
          </a:ln>
        </p:spPr>
      </p:cxnSp>
      <p:sp>
        <p:nvSpPr>
          <p:cNvPr id="9" name="flow-1">
            <a:extLst>
              <a:ext uri="{FF2B5EF4-FFF2-40B4-BE49-F238E27FC236}">
                <a16:creationId xmlns:a16="http://schemas.microsoft.com/office/drawing/2014/main" id="{3B7571DD-8A1C-4405-95BE-421EA26100D7}"/>
              </a:ext>
            </a:extLst>
          </p:cNvPr>
          <p:cNvSpPr>
            <a:spLocks noGrp="1"/>
          </p:cNvSpPr>
          <p:nvPr/>
        </p:nvSpPr>
        <p:spPr>
          <a:xfrm>
            <a:off x="400050" y="2000250"/>
            <a:ext cx="1333500" cy="1123950"/>
          </a:xfrm>
          <a:prstGeom prst="roundRect">
            <a:avLst>
              <a:gd name="adj" fmla="val 6780"/>
            </a:avLst>
          </a:prstGeom>
          <a:solidFill>
            <a:srgbClr val="EAF8FD"/>
          </a:solidFill>
          <a:ln w="9525">
            <a:solidFill>
              <a:srgbClr val="BCE5F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flow-2">
            <a:extLst>
              <a:ext uri="{FF2B5EF4-FFF2-40B4-BE49-F238E27FC236}">
                <a16:creationId xmlns:a16="http://schemas.microsoft.com/office/drawing/2014/main" id="{7697FAA4-BD7C-4462-94B1-F003FB1C7DD8}"/>
              </a:ext>
            </a:extLst>
          </p:cNvPr>
          <p:cNvSpPr>
            <a:spLocks noGrp="1"/>
          </p:cNvSpPr>
          <p:nvPr/>
        </p:nvSpPr>
        <p:spPr>
          <a:xfrm>
            <a:off x="2095500" y="2000250"/>
            <a:ext cx="1333500" cy="1123950"/>
          </a:xfrm>
          <a:prstGeom prst="roundRect">
            <a:avLst>
              <a:gd name="adj" fmla="val 6780"/>
            </a:avLst>
          </a:prstGeom>
          <a:solidFill>
            <a:srgbClr val="EAF8FD"/>
          </a:solidFill>
          <a:ln w="9525">
            <a:solidFill>
              <a:srgbClr val="BCE5F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flow-3">
            <a:extLst>
              <a:ext uri="{FF2B5EF4-FFF2-40B4-BE49-F238E27FC236}">
                <a16:creationId xmlns:a16="http://schemas.microsoft.com/office/drawing/2014/main" id="{30D8967B-5530-4680-9789-FA16433B2C0E}"/>
              </a:ext>
            </a:extLst>
          </p:cNvPr>
          <p:cNvSpPr>
            <a:spLocks noGrp="1"/>
          </p:cNvSpPr>
          <p:nvPr/>
        </p:nvSpPr>
        <p:spPr>
          <a:xfrm>
            <a:off x="3790950" y="2000250"/>
            <a:ext cx="1333500" cy="1123950"/>
          </a:xfrm>
          <a:prstGeom prst="roundRect">
            <a:avLst>
              <a:gd name="adj" fmla="val 6780"/>
            </a:avLst>
          </a:prstGeom>
          <a:solidFill>
            <a:srgbClr val="EAF8FD"/>
          </a:solidFill>
          <a:ln w="9525">
            <a:solidFill>
              <a:srgbClr val="BCE5F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flow-4">
            <a:extLst>
              <a:ext uri="{FF2B5EF4-FFF2-40B4-BE49-F238E27FC236}">
                <a16:creationId xmlns:a16="http://schemas.microsoft.com/office/drawing/2014/main" id="{2AF7C537-BF6D-43C3-A844-D5D1AF28B0DD}"/>
              </a:ext>
            </a:extLst>
          </p:cNvPr>
          <p:cNvSpPr>
            <a:spLocks noGrp="1"/>
          </p:cNvSpPr>
          <p:nvPr/>
        </p:nvSpPr>
        <p:spPr>
          <a:xfrm>
            <a:off x="5486400" y="2000250"/>
            <a:ext cx="1333500" cy="1123950"/>
          </a:xfrm>
          <a:prstGeom prst="roundRect">
            <a:avLst>
              <a:gd name="adj" fmla="val 6780"/>
            </a:avLst>
          </a:prstGeom>
          <a:solidFill>
            <a:srgbClr val="EAF8FD"/>
          </a:solidFill>
          <a:ln w="9525">
            <a:solidFill>
              <a:srgbClr val="BCE5F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flow-1-text">
            <a:extLst>
              <a:ext uri="{FF2B5EF4-FFF2-40B4-BE49-F238E27FC236}">
                <a16:creationId xmlns:a16="http://schemas.microsoft.com/office/drawing/2014/main" id="{6ABE49A2-AA37-487F-8EF6-AAA40B446F1F}"/>
              </a:ext>
            </a:extLst>
          </p:cNvPr>
          <p:cNvSpPr>
            <a:spLocks noGrp="1"/>
          </p:cNvSpPr>
          <p:nvPr/>
        </p:nvSpPr>
        <p:spPr>
          <a:xfrm>
            <a:off x="590550" y="2209800"/>
            <a:ext cx="952500" cy="666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进程加载
PT_INTERP</a:t>
            </a:r>
          </a:p>
        </p:txBody>
      </p:sp>
      <p:sp>
        <p:nvSpPr>
          <p:cNvPr id="14" name="flow-2-text">
            <a:extLst>
              <a:ext uri="{FF2B5EF4-FFF2-40B4-BE49-F238E27FC236}">
                <a16:creationId xmlns:a16="http://schemas.microsoft.com/office/drawing/2014/main" id="{37A4D4A2-DA57-45FE-B59E-71D95EC9D207}"/>
              </a:ext>
            </a:extLst>
          </p:cNvPr>
          <p:cNvSpPr>
            <a:spLocks noGrp="1"/>
          </p:cNvSpPr>
          <p:nvPr/>
        </p:nvSpPr>
        <p:spPr>
          <a:xfrm>
            <a:off x="2286000" y="2209800"/>
            <a:ext cx="952500" cy="666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动态库版本
错配</a:t>
            </a:r>
          </a:p>
        </p:txBody>
      </p:sp>
      <p:sp>
        <p:nvSpPr>
          <p:cNvPr id="15" name="flow-3-text">
            <a:extLst>
              <a:ext uri="{FF2B5EF4-FFF2-40B4-BE49-F238E27FC236}">
                <a16:creationId xmlns:a16="http://schemas.microsoft.com/office/drawing/2014/main" id="{321D54B3-D066-40B6-9E12-3040C08847B7}"/>
              </a:ext>
            </a:extLst>
          </p:cNvPr>
          <p:cNvSpPr>
            <a:spLocks noGrp="1"/>
          </p:cNvSpPr>
          <p:nvPr/>
        </p:nvSpPr>
        <p:spPr>
          <a:xfrm>
            <a:off x="3981450" y="2209800"/>
            <a:ext cx="952500" cy="666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符号名相同
地址偏移</a:t>
            </a:r>
          </a:p>
        </p:txBody>
      </p:sp>
      <p:sp>
        <p:nvSpPr>
          <p:cNvPr id="16" name="flow-4-text">
            <a:extLst>
              <a:ext uri="{FF2B5EF4-FFF2-40B4-BE49-F238E27FC236}">
                <a16:creationId xmlns:a16="http://schemas.microsoft.com/office/drawing/2014/main" id="{46504CD0-C094-49B7-94D3-19459D3B6B80}"/>
              </a:ext>
            </a:extLst>
          </p:cNvPr>
          <p:cNvSpPr>
            <a:spLocks noGrp="1"/>
          </p:cNvSpPr>
          <p:nvPr/>
        </p:nvSpPr>
        <p:spPr>
          <a:xfrm>
            <a:off x="5676900" y="2209800"/>
            <a:ext cx="952500" cy="666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trap →
Segfault</a:t>
            </a:r>
          </a:p>
        </p:txBody>
      </p:sp>
      <p:sp>
        <p:nvSpPr>
          <p:cNvPr id="17" name="attention-panel">
            <a:extLst>
              <a:ext uri="{FF2B5EF4-FFF2-40B4-BE49-F238E27FC236}">
                <a16:creationId xmlns:a16="http://schemas.microsoft.com/office/drawing/2014/main" id="{D5EA5D3B-F7E7-4B6D-A0DD-354218E1A9E2}"/>
              </a:ext>
            </a:extLst>
          </p:cNvPr>
          <p:cNvSpPr>
            <a:spLocks noGrp="1"/>
          </p:cNvSpPr>
          <p:nvPr/>
        </p:nvSpPr>
        <p:spPr>
          <a:xfrm>
            <a:off x="7353300" y="1809750"/>
            <a:ext cx="4438650" cy="3352800"/>
          </a:xfrm>
          <a:prstGeom prst="roundRect">
            <a:avLst>
              <a:gd name="adj" fmla="val 2273"/>
            </a:avLst>
          </a:prstGeom>
          <a:solidFill>
            <a:srgbClr val="F1F4F7"/>
          </a:solidFill>
          <a:ln w="9525">
            <a:solidFill>
              <a:srgbClr val="F1F4F7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attention-title">
            <a:extLst>
              <a:ext uri="{FF2B5EF4-FFF2-40B4-BE49-F238E27FC236}">
                <a16:creationId xmlns:a16="http://schemas.microsoft.com/office/drawing/2014/main" id="{9D67021C-E5C1-4180-B906-F58E540D1CB3}"/>
              </a:ext>
            </a:extLst>
          </p:cNvPr>
          <p:cNvSpPr>
            <a:spLocks noGrp="1"/>
          </p:cNvSpPr>
          <p:nvPr/>
        </p:nvSpPr>
        <p:spPr>
          <a:xfrm>
            <a:off x="7658100" y="2114550"/>
            <a:ext cx="35242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真正拖慢排障的，是重复动作</a:t>
            </a:r>
          </a:p>
        </p:txBody>
      </p:sp>
      <p:sp>
        <p:nvSpPr>
          <p:cNvPr id="19" name="attention-1">
            <a:extLst>
              <a:ext uri="{FF2B5EF4-FFF2-40B4-BE49-F238E27FC236}">
                <a16:creationId xmlns:a16="http://schemas.microsoft.com/office/drawing/2014/main" id="{0DD21A8A-7F28-465B-814B-5C44606AF92A}"/>
              </a:ext>
            </a:extLst>
          </p:cNvPr>
          <p:cNvSpPr>
            <a:spLocks noGrp="1"/>
          </p:cNvSpPr>
          <p:nvPr/>
        </p:nvSpPr>
        <p:spPr>
          <a:xfrm>
            <a:off x="7658100" y="2781300"/>
            <a:ext cx="36766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01  Rust 符号冗长、相似，调用链难读</a:t>
            </a:r>
          </a:p>
        </p:txBody>
      </p:sp>
      <p:sp>
        <p:nvSpPr>
          <p:cNvPr id="20" name="attention-2">
            <a:extLst>
              <a:ext uri="{FF2B5EF4-FFF2-40B4-BE49-F238E27FC236}">
                <a16:creationId xmlns:a16="http://schemas.microsoft.com/office/drawing/2014/main" id="{03990BDC-B12B-4D78-913A-BC97170B6E47}"/>
              </a:ext>
            </a:extLst>
          </p:cNvPr>
          <p:cNvSpPr>
            <a:spLocks noGrp="1"/>
          </p:cNvSpPr>
          <p:nvPr/>
        </p:nvSpPr>
        <p:spPr>
          <a:xfrm>
            <a:off x="7658100" y="3390900"/>
            <a:ext cx="3676650" cy="361950"/>
          </a:xfrm>
          <a:prstGeom prst="rect">
            <a:avLst/>
          </a:prstGeom>
        </p:spPr>
        <p:txBody>
          <a:bodyPr wrap="square" lIns="0" tIns="0" rIns="0" bIns="0" anchor="t">
            <a:normAutofit fontScale="96477"/>
          </a:bodyPr>
          <a:lstStyle/>
          <a:p>
            <a:pPr algn="l">
              <a:buNone/>
              <a:defRPr sz="1500" b="0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02  wrapper 展开，业务值被 UnsafeCell 淹没</a:t>
            </a:r>
          </a:p>
        </p:txBody>
      </p:sp>
      <p:sp>
        <p:nvSpPr>
          <p:cNvPr id="21" name="attention-3">
            <a:extLst>
              <a:ext uri="{FF2B5EF4-FFF2-40B4-BE49-F238E27FC236}">
                <a16:creationId xmlns:a16="http://schemas.microsoft.com/office/drawing/2014/main" id="{BABB92E0-DF28-4E04-8336-AC7D04EB06D4}"/>
              </a:ext>
            </a:extLst>
          </p:cNvPr>
          <p:cNvSpPr>
            <a:spLocks noGrp="1"/>
          </p:cNvSpPr>
          <p:nvPr/>
        </p:nvSpPr>
        <p:spPr>
          <a:xfrm>
            <a:off x="7658100" y="4000500"/>
            <a:ext cx="36766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03  找对象要穿过 PID 表、锁和集合</a:t>
            </a:r>
          </a:p>
        </p:txBody>
      </p:sp>
      <p:sp>
        <p:nvSpPr>
          <p:cNvPr id="22" name="problem-bottom">
            <a:extLst>
              <a:ext uri="{FF2B5EF4-FFF2-40B4-BE49-F238E27FC236}">
                <a16:creationId xmlns:a16="http://schemas.microsoft.com/office/drawing/2014/main" id="{274F9EA2-BF41-4100-AE20-2D5EBB9406F8}"/>
              </a:ext>
            </a:extLst>
          </p:cNvPr>
          <p:cNvSpPr>
            <a:spLocks noGrp="1"/>
          </p:cNvSpPr>
          <p:nvPr/>
        </p:nvSpPr>
        <p:spPr>
          <a:xfrm>
            <a:off x="400050" y="5619750"/>
            <a:ext cx="100012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>
                <a:solidFill>
                  <a:srgbClr val="007FCB"/>
                </a:solidFill>
                <a:latin typeface="Arial"/>
                <a:ea typeface="Arial"/>
                <a:cs typeface="Arial"/>
              </a:defRPr>
            </a:pPr>
            <a:r>
              <a:t>每一项都不难；组合起来，却会持续打断调试者的思路。</a:t>
            </a:r>
          </a:p>
        </p:txBody>
      </p:sp>
    </p:spTree>
    <p:extLst>
      <p:ext uri="{BB962C8B-B14F-4D97-AF65-F5344CB8AC3E}">
        <p14:creationId xmlns:p14="http://schemas.microsoft.com/office/powerpoint/2010/main" val="1760600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top-rule"/>
          <p:cNvCxnSpPr/>
          <p:nvPr/>
        </p:nvCxnSpPr>
        <p:spPr>
          <a:xfrm>
            <a:off x="400050" y="295275"/>
            <a:ext cx="11391900" cy="9525"/>
          </a:xfrm>
          <a:prstGeom prst="straightConnector1">
            <a:avLst/>
          </a:prstGeom>
          <a:ln w="9525">
            <a:solidFill>
              <a:srgbClr val="C7D0DA"/>
            </a:solidFill>
            <a:prstDash val="solid"/>
          </a:ln>
        </p:spPr>
      </p:cxnSp>
      <p:sp>
        <p:nvSpPr>
          <p:cNvPr id="2" name="page-number">
            <a:extLst>
              <a:ext uri="{FF2B5EF4-FFF2-40B4-BE49-F238E27FC236}">
                <a16:creationId xmlns:a16="http://schemas.microsoft.com/office/drawing/2014/main" id="{CA876E2E-431A-4C3C-91C6-94FF17A72643}"/>
              </a:ext>
            </a:extLst>
          </p:cNvPr>
          <p:cNvSpPr>
            <a:spLocks noGrp="1"/>
          </p:cNvSpPr>
          <p:nvPr/>
        </p:nvSpPr>
        <p:spPr>
          <a:xfrm>
            <a:off x="11125200" y="6305550"/>
            <a:ext cx="6667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3" name="strategy-title">
            <a:extLst>
              <a:ext uri="{FF2B5EF4-FFF2-40B4-BE49-F238E27FC236}">
                <a16:creationId xmlns:a16="http://schemas.microsoft.com/office/drawing/2014/main" id="{68E0C996-47C1-434B-B77F-3593D0A47A49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0287000" cy="552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925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先做高 ROI 的三层能力，避免堆叠临时命令</a:t>
            </a:r>
          </a:p>
        </p:txBody>
      </p:sp>
      <p:sp>
        <p:nvSpPr>
          <p:cNvPr id="4" name="strategy-subtitle">
            <a:extLst>
              <a:ext uri="{FF2B5EF4-FFF2-40B4-BE49-F238E27FC236}">
                <a16:creationId xmlns:a16="http://schemas.microsoft.com/office/drawing/2014/main" id="{862E0EEE-9876-48F3-BD8A-A4C4F4D9B02E}"/>
              </a:ext>
            </a:extLst>
          </p:cNvPr>
          <p:cNvSpPr>
            <a:spLocks noGrp="1"/>
          </p:cNvSpPr>
          <p:nvPr/>
        </p:nvSpPr>
        <p:spPr>
          <a:xfrm>
            <a:off x="400050" y="1266825"/>
            <a:ext cx="85725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从最通用的减噪开始，再把对象导航和聚合展示交给合适的层。</a:t>
            </a:r>
          </a:p>
        </p:txBody>
      </p:sp>
      <p:cxnSp>
        <p:nvCxnSpPr>
          <p:cNvPr id="34" name="strategy-line"/>
          <p:cNvCxnSpPr/>
          <p:nvPr/>
        </p:nvCxnSpPr>
        <p:spPr>
          <a:xfrm>
            <a:off x="1066800" y="3238500"/>
            <a:ext cx="9429750" cy="9525"/>
          </a:xfrm>
          <a:prstGeom prst="straightConnector1">
            <a:avLst/>
          </a:prstGeom>
          <a:ln w="28575">
            <a:solidFill>
              <a:srgbClr val="007FCB"/>
            </a:solidFill>
            <a:prstDash val="solid"/>
          </a:ln>
        </p:spPr>
      </p:cxnSp>
      <p:sp>
        <p:nvSpPr>
          <p:cNvPr id="6" name="strategy-dot-1">
            <a:extLst>
              <a:ext uri="{FF2B5EF4-FFF2-40B4-BE49-F238E27FC236}">
                <a16:creationId xmlns:a16="http://schemas.microsoft.com/office/drawing/2014/main" id="{1B0E2854-4B3D-4142-ABE6-BF1DB962A81C}"/>
              </a:ext>
            </a:extLst>
          </p:cNvPr>
          <p:cNvSpPr>
            <a:spLocks noGrp="1"/>
          </p:cNvSpPr>
          <p:nvPr/>
        </p:nvSpPr>
        <p:spPr>
          <a:xfrm>
            <a:off x="1952625" y="3171825"/>
            <a:ext cx="133350" cy="133350"/>
          </a:xfrm>
          <a:prstGeom prst="ellipse">
            <a:avLst/>
          </a:prstGeom>
          <a:solidFill>
            <a:srgbClr val="007FCB"/>
          </a:solidFill>
          <a:ln w="9525">
            <a:solidFill>
              <a:srgbClr val="007FC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strategy-dot-2">
            <a:extLst>
              <a:ext uri="{FF2B5EF4-FFF2-40B4-BE49-F238E27FC236}">
                <a16:creationId xmlns:a16="http://schemas.microsoft.com/office/drawing/2014/main" id="{2B952C73-C654-4D9A-80DC-DFD139AFD6F8}"/>
              </a:ext>
            </a:extLst>
          </p:cNvPr>
          <p:cNvSpPr>
            <a:spLocks noGrp="1"/>
          </p:cNvSpPr>
          <p:nvPr/>
        </p:nvSpPr>
        <p:spPr>
          <a:xfrm>
            <a:off x="5619750" y="3171825"/>
            <a:ext cx="133350" cy="133350"/>
          </a:xfrm>
          <a:prstGeom prst="ellipse">
            <a:avLst/>
          </a:prstGeom>
          <a:solidFill>
            <a:srgbClr val="007FCB"/>
          </a:solidFill>
          <a:ln w="9525">
            <a:solidFill>
              <a:srgbClr val="007FC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strategy-dot-3">
            <a:extLst>
              <a:ext uri="{FF2B5EF4-FFF2-40B4-BE49-F238E27FC236}">
                <a16:creationId xmlns:a16="http://schemas.microsoft.com/office/drawing/2014/main" id="{87DA4A8F-0064-4432-AE8E-907102DBE2C5}"/>
              </a:ext>
            </a:extLst>
          </p:cNvPr>
          <p:cNvSpPr>
            <a:spLocks noGrp="1"/>
          </p:cNvSpPr>
          <p:nvPr/>
        </p:nvSpPr>
        <p:spPr>
          <a:xfrm>
            <a:off x="9286875" y="3171825"/>
            <a:ext cx="133350" cy="133350"/>
          </a:xfrm>
          <a:prstGeom prst="ellipse">
            <a:avLst/>
          </a:prstGeom>
          <a:solidFill>
            <a:srgbClr val="007FCB"/>
          </a:solidFill>
          <a:ln w="9525">
            <a:solidFill>
              <a:srgbClr val="007FC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strategy-label-1">
            <a:extLst>
              <a:ext uri="{FF2B5EF4-FFF2-40B4-BE49-F238E27FC236}">
                <a16:creationId xmlns:a16="http://schemas.microsoft.com/office/drawing/2014/main" id="{9939C2BA-5964-4D5A-A52A-11BB36790A0D}"/>
              </a:ext>
            </a:extLst>
          </p:cNvPr>
          <p:cNvSpPr>
            <a:spLocks noGrp="1"/>
          </p:cNvSpPr>
          <p:nvPr/>
        </p:nvSpPr>
        <p:spPr>
          <a:xfrm>
            <a:off x="1685925" y="2714625"/>
            <a:ext cx="12382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007FCB"/>
                </a:solidFill>
                <a:latin typeface="Arial"/>
                <a:ea typeface="Arial"/>
                <a:cs typeface="Arial"/>
              </a:defRPr>
            </a:pPr>
            <a:r>
              <a:t>第一层</a:t>
            </a:r>
          </a:p>
        </p:txBody>
      </p:sp>
      <p:sp>
        <p:nvSpPr>
          <p:cNvPr id="10" name="strategy-label-2">
            <a:extLst>
              <a:ext uri="{FF2B5EF4-FFF2-40B4-BE49-F238E27FC236}">
                <a16:creationId xmlns:a16="http://schemas.microsoft.com/office/drawing/2014/main" id="{15CDF3EC-7052-4D8B-9090-6149557ABDF9}"/>
              </a:ext>
            </a:extLst>
          </p:cNvPr>
          <p:cNvSpPr>
            <a:spLocks noGrp="1"/>
          </p:cNvSpPr>
          <p:nvPr/>
        </p:nvSpPr>
        <p:spPr>
          <a:xfrm>
            <a:off x="5353050" y="2714625"/>
            <a:ext cx="12382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007FCB"/>
                </a:solidFill>
                <a:latin typeface="Arial"/>
                <a:ea typeface="Arial"/>
                <a:cs typeface="Arial"/>
              </a:defRPr>
            </a:pPr>
            <a:r>
              <a:t>第二层</a:t>
            </a:r>
          </a:p>
        </p:txBody>
      </p:sp>
      <p:sp>
        <p:nvSpPr>
          <p:cNvPr id="11" name="strategy-label-3">
            <a:extLst>
              <a:ext uri="{FF2B5EF4-FFF2-40B4-BE49-F238E27FC236}">
                <a16:creationId xmlns:a16="http://schemas.microsoft.com/office/drawing/2014/main" id="{2D82D75A-01B5-424E-ABAC-59FB839CEFA7}"/>
              </a:ext>
            </a:extLst>
          </p:cNvPr>
          <p:cNvSpPr>
            <a:spLocks noGrp="1"/>
          </p:cNvSpPr>
          <p:nvPr/>
        </p:nvSpPr>
        <p:spPr>
          <a:xfrm>
            <a:off x="9020175" y="2714625"/>
            <a:ext cx="12382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007FCB"/>
                </a:solidFill>
                <a:latin typeface="Arial"/>
                <a:ea typeface="Arial"/>
                <a:cs typeface="Arial"/>
              </a:defRPr>
            </a:pPr>
            <a:r>
              <a:t>第三层</a:t>
            </a:r>
          </a:p>
        </p:txBody>
      </p:sp>
      <p:sp>
        <p:nvSpPr>
          <p:cNvPr id="12" name="strategy-1-title">
            <a:extLst>
              <a:ext uri="{FF2B5EF4-FFF2-40B4-BE49-F238E27FC236}">
                <a16:creationId xmlns:a16="http://schemas.microsoft.com/office/drawing/2014/main" id="{6BA38B75-F003-426E-9671-C03D17D4BAF4}"/>
              </a:ext>
            </a:extLst>
          </p:cNvPr>
          <p:cNvSpPr>
            <a:spLocks noGrp="1"/>
          </p:cNvSpPr>
          <p:nvPr/>
        </p:nvSpPr>
        <p:spPr>
          <a:xfrm>
            <a:off x="1000125" y="3714750"/>
            <a:ext cx="219075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950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先压低类型噪声</a:t>
            </a:r>
          </a:p>
        </p:txBody>
      </p:sp>
      <p:sp>
        <p:nvSpPr>
          <p:cNvPr id="13" name="strategy-1-body">
            <a:extLst>
              <a:ext uri="{FF2B5EF4-FFF2-40B4-BE49-F238E27FC236}">
                <a16:creationId xmlns:a16="http://schemas.microsoft.com/office/drawing/2014/main" id="{9E6C60B4-B629-4B66-A094-C3AF06991010}"/>
              </a:ext>
            </a:extLst>
          </p:cNvPr>
          <p:cNvSpPr>
            <a:spLocks noGrp="1"/>
          </p:cNvSpPr>
          <p:nvPr/>
        </p:nvSpPr>
        <p:spPr>
          <a:xfrm>
            <a:off x="1000125" y="4171950"/>
            <a:ext cx="2381250" cy="8001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Atomic、Mutex、RwMutex、SpinLock
先以人能读懂的形式显示。</a:t>
            </a:r>
          </a:p>
        </p:txBody>
      </p:sp>
      <p:sp>
        <p:nvSpPr>
          <p:cNvPr id="14" name="strategy-2-title">
            <a:extLst>
              <a:ext uri="{FF2B5EF4-FFF2-40B4-BE49-F238E27FC236}">
                <a16:creationId xmlns:a16="http://schemas.microsoft.com/office/drawing/2014/main" id="{6ED3E819-763E-49A4-B803-EFC31EDF182A}"/>
              </a:ext>
            </a:extLst>
          </p:cNvPr>
          <p:cNvSpPr>
            <a:spLocks noGrp="1"/>
          </p:cNvSpPr>
          <p:nvPr/>
        </p:nvSpPr>
        <p:spPr>
          <a:xfrm>
            <a:off x="4667250" y="3714750"/>
            <a:ext cx="219075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950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再解决对象导航</a:t>
            </a:r>
          </a:p>
        </p:txBody>
      </p:sp>
      <p:sp>
        <p:nvSpPr>
          <p:cNvPr id="15" name="strategy-2-body">
            <a:extLst>
              <a:ext uri="{FF2B5EF4-FFF2-40B4-BE49-F238E27FC236}">
                <a16:creationId xmlns:a16="http://schemas.microsoft.com/office/drawing/2014/main" id="{7B81368A-B5FA-4E19-8810-3DAFF9251419}"/>
              </a:ext>
            </a:extLst>
          </p:cNvPr>
          <p:cNvSpPr>
            <a:spLocks noGrp="1"/>
          </p:cNvSpPr>
          <p:nvPr/>
        </p:nvSpPr>
        <p:spPr>
          <a:xfrm>
            <a:off x="4667250" y="4171950"/>
            <a:ext cx="2381250" cy="8001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$ast_process、$ast_thread 等函数
直接把 GDB 带到目标对象。</a:t>
            </a:r>
          </a:p>
        </p:txBody>
      </p:sp>
      <p:sp>
        <p:nvSpPr>
          <p:cNvPr id="16" name="strategy-3-title">
            <a:extLst>
              <a:ext uri="{FF2B5EF4-FFF2-40B4-BE49-F238E27FC236}">
                <a16:creationId xmlns:a16="http://schemas.microsoft.com/office/drawing/2014/main" id="{9F25116F-A3FE-4F0A-9CC3-FCC93E517E0F}"/>
              </a:ext>
            </a:extLst>
          </p:cNvPr>
          <p:cNvSpPr>
            <a:spLocks noGrp="1"/>
          </p:cNvSpPr>
          <p:nvPr/>
        </p:nvSpPr>
        <p:spPr>
          <a:xfrm>
            <a:off x="8334375" y="3714750"/>
            <a:ext cx="238125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950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最后保留聚合命令</a:t>
            </a:r>
          </a:p>
        </p:txBody>
      </p:sp>
      <p:sp>
        <p:nvSpPr>
          <p:cNvPr id="17" name="strategy-3-body">
            <a:extLst>
              <a:ext uri="{FF2B5EF4-FFF2-40B4-BE49-F238E27FC236}">
                <a16:creationId xmlns:a16="http://schemas.microsoft.com/office/drawing/2014/main" id="{5184DC0D-6E10-4467-BD28-04B51BFA8031}"/>
              </a:ext>
            </a:extLst>
          </p:cNvPr>
          <p:cNvSpPr>
            <a:spLocks noGrp="1"/>
          </p:cNvSpPr>
          <p:nvPr/>
        </p:nvSpPr>
        <p:spPr>
          <a:xfrm>
            <a:off x="8334375" y="4171950"/>
            <a:ext cx="2571750" cy="8001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ast-ps、ast-fds、ast-pstree
只处理遍历、汇总和表格展示。</a:t>
            </a:r>
          </a:p>
        </p:txBody>
      </p:sp>
      <p:sp>
        <p:nvSpPr>
          <p:cNvPr id="18" name="strategy-claim">
            <a:extLst>
              <a:ext uri="{FF2B5EF4-FFF2-40B4-BE49-F238E27FC236}">
                <a16:creationId xmlns:a16="http://schemas.microsoft.com/office/drawing/2014/main" id="{B4BAE31A-7614-4210-8B6B-BF7C4636E7F2}"/>
              </a:ext>
            </a:extLst>
          </p:cNvPr>
          <p:cNvSpPr>
            <a:spLocks noGrp="1"/>
          </p:cNvSpPr>
          <p:nvPr/>
        </p:nvSpPr>
        <p:spPr>
          <a:xfrm>
            <a:off x="400050" y="5476875"/>
            <a:ext cx="11391900" cy="647700"/>
          </a:xfrm>
          <a:prstGeom prst="roundRect">
            <a:avLst>
              <a:gd name="adj" fmla="val 11765"/>
            </a:avLst>
          </a:prstGeom>
          <a:solidFill>
            <a:srgbClr val="EAF8FD"/>
          </a:solidFill>
          <a:ln w="9525">
            <a:solidFill>
              <a:srgbClr val="BCE5F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strategy-claim-text">
            <a:extLst>
              <a:ext uri="{FF2B5EF4-FFF2-40B4-BE49-F238E27FC236}">
                <a16:creationId xmlns:a16="http://schemas.microsoft.com/office/drawing/2014/main" id="{8A49F9F6-AE7B-42E9-BA84-42093D13AB6D}"/>
              </a:ext>
            </a:extLst>
          </p:cNvPr>
          <p:cNvSpPr>
            <a:spLocks noGrp="1"/>
          </p:cNvSpPr>
          <p:nvPr/>
        </p:nvSpPr>
        <p:spPr>
          <a:xfrm>
            <a:off x="685800" y="5657850"/>
            <a:ext cx="10477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导航交给 helper，展示交给 GDB，pretty-printer 负责降低噪声。</a:t>
            </a:r>
          </a:p>
        </p:txBody>
      </p:sp>
    </p:spTree>
    <p:extLst>
      <p:ext uri="{BB962C8B-B14F-4D97-AF65-F5344CB8AC3E}">
        <p14:creationId xmlns:p14="http://schemas.microsoft.com/office/powerpoint/2010/main" val="537519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top-rule"/>
          <p:cNvCxnSpPr/>
          <p:nvPr/>
        </p:nvCxnSpPr>
        <p:spPr>
          <a:xfrm>
            <a:off x="400050" y="295275"/>
            <a:ext cx="11391900" cy="9525"/>
          </a:xfrm>
          <a:prstGeom prst="straightConnector1">
            <a:avLst/>
          </a:prstGeom>
          <a:ln w="9525">
            <a:solidFill>
              <a:srgbClr val="C7D0DA"/>
            </a:solidFill>
            <a:prstDash val="solid"/>
          </a:ln>
        </p:spPr>
      </p:cxnSp>
      <p:sp>
        <p:nvSpPr>
          <p:cNvPr id="2" name="page-number">
            <a:extLst>
              <a:ext uri="{FF2B5EF4-FFF2-40B4-BE49-F238E27FC236}">
                <a16:creationId xmlns:a16="http://schemas.microsoft.com/office/drawing/2014/main" id="{D7B9FE02-010B-42A1-8029-C4A3CC088AFC}"/>
              </a:ext>
            </a:extLst>
          </p:cNvPr>
          <p:cNvSpPr>
            <a:spLocks noGrp="1"/>
          </p:cNvSpPr>
          <p:nvPr/>
        </p:nvSpPr>
        <p:spPr>
          <a:xfrm>
            <a:off x="11125200" y="6305550"/>
            <a:ext cx="6667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3" name="architecture-title">
            <a:extLst>
              <a:ext uri="{FF2B5EF4-FFF2-40B4-BE49-F238E27FC236}">
                <a16:creationId xmlns:a16="http://schemas.microsoft.com/office/drawing/2014/main" id="{C7472CFA-B236-4B51-A1B4-EC3F245E2719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0287000" cy="552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925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OSDK 自动加载，布局知识集中在少数模块</a:t>
            </a:r>
          </a:p>
        </p:txBody>
      </p:sp>
      <p:sp>
        <p:nvSpPr>
          <p:cNvPr id="4" name="architecture-subtitle">
            <a:extLst>
              <a:ext uri="{FF2B5EF4-FFF2-40B4-BE49-F238E27FC236}">
                <a16:creationId xmlns:a16="http://schemas.microsoft.com/office/drawing/2014/main" id="{B8C1D1B5-4BCB-43DE-811F-473438A4FEF7}"/>
              </a:ext>
            </a:extLst>
          </p:cNvPr>
          <p:cNvSpPr>
            <a:spLocks noGrp="1"/>
          </p:cNvSpPr>
          <p:nvPr/>
        </p:nvSpPr>
        <p:spPr>
          <a:xfrm>
            <a:off x="400050" y="1266825"/>
            <a:ext cx="85725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开发者进入调试会话时，连接、加载和核心 helper 已经就绪。</a:t>
            </a:r>
          </a:p>
        </p:txBody>
      </p:sp>
      <p:cxnSp>
        <p:nvCxnSpPr>
          <p:cNvPr id="41" name="arch-conn-1"/>
          <p:cNvCxnSpPr/>
          <p:nvPr/>
        </p:nvCxnSpPr>
        <p:spPr>
          <a:xfrm>
            <a:off x="2609850" y="2724150"/>
            <a:ext cx="571500" cy="9525"/>
          </a:xfrm>
          <a:prstGeom prst="straightConnector1">
            <a:avLst/>
          </a:prstGeom>
          <a:ln w="19050">
            <a:solidFill>
              <a:srgbClr val="007FCB"/>
            </a:solidFill>
            <a:prstDash val="solid"/>
          </a:ln>
        </p:spPr>
      </p:cxnSp>
      <p:cxnSp>
        <p:nvCxnSpPr>
          <p:cNvPr id="42" name="arch-conn-2"/>
          <p:cNvCxnSpPr/>
          <p:nvPr/>
        </p:nvCxnSpPr>
        <p:spPr>
          <a:xfrm>
            <a:off x="5410200" y="2724150"/>
            <a:ext cx="571500" cy="9525"/>
          </a:xfrm>
          <a:prstGeom prst="straightConnector1">
            <a:avLst/>
          </a:prstGeom>
          <a:ln w="19050">
            <a:solidFill>
              <a:srgbClr val="007FCB"/>
            </a:solidFill>
            <a:prstDash val="solid"/>
          </a:ln>
        </p:spPr>
      </p:cxnSp>
      <p:cxnSp>
        <p:nvCxnSpPr>
          <p:cNvPr id="43" name="arch-conn-3"/>
          <p:cNvCxnSpPr/>
          <p:nvPr/>
        </p:nvCxnSpPr>
        <p:spPr>
          <a:xfrm>
            <a:off x="8210550" y="2724150"/>
            <a:ext cx="571500" cy="9525"/>
          </a:xfrm>
          <a:prstGeom prst="straightConnector1">
            <a:avLst/>
          </a:prstGeom>
          <a:ln w="19050">
            <a:solidFill>
              <a:srgbClr val="007FCB"/>
            </a:solidFill>
            <a:prstDash val="solid"/>
          </a:ln>
        </p:spPr>
      </p:cxnSp>
      <p:sp>
        <p:nvSpPr>
          <p:cNvPr id="8" name="arch-1">
            <a:extLst>
              <a:ext uri="{FF2B5EF4-FFF2-40B4-BE49-F238E27FC236}">
                <a16:creationId xmlns:a16="http://schemas.microsoft.com/office/drawing/2014/main" id="{E31DA79F-3BCD-4D1F-A821-8E432F6E48A7}"/>
              </a:ext>
            </a:extLst>
          </p:cNvPr>
          <p:cNvSpPr>
            <a:spLocks noGrp="1"/>
          </p:cNvSpPr>
          <p:nvPr/>
        </p:nvSpPr>
        <p:spPr>
          <a:xfrm>
            <a:off x="400050" y="2095500"/>
            <a:ext cx="2095500" cy="1524000"/>
          </a:xfrm>
          <a:prstGeom prst="roundRect">
            <a:avLst>
              <a:gd name="adj" fmla="val 5000"/>
            </a:avLst>
          </a:prstGeom>
          <a:solidFill>
            <a:srgbClr val="EAF8FD"/>
          </a:solidFill>
          <a:ln w="9525">
            <a:solidFill>
              <a:srgbClr val="BCE5F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arch-2">
            <a:extLst>
              <a:ext uri="{FF2B5EF4-FFF2-40B4-BE49-F238E27FC236}">
                <a16:creationId xmlns:a16="http://schemas.microsoft.com/office/drawing/2014/main" id="{508DBC85-E9D5-417D-8DB4-D3B4D9E3FF9E}"/>
              </a:ext>
            </a:extLst>
          </p:cNvPr>
          <p:cNvSpPr>
            <a:spLocks noGrp="1"/>
          </p:cNvSpPr>
          <p:nvPr/>
        </p:nvSpPr>
        <p:spPr>
          <a:xfrm>
            <a:off x="3200400" y="2095500"/>
            <a:ext cx="2095500" cy="1524000"/>
          </a:xfrm>
          <a:prstGeom prst="roundRect">
            <a:avLst>
              <a:gd name="adj" fmla="val 5000"/>
            </a:avLst>
          </a:prstGeom>
          <a:solidFill>
            <a:srgbClr val="EAF8FD"/>
          </a:solidFill>
          <a:ln w="9525">
            <a:solidFill>
              <a:srgbClr val="BCE5F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arch-3">
            <a:extLst>
              <a:ext uri="{FF2B5EF4-FFF2-40B4-BE49-F238E27FC236}">
                <a16:creationId xmlns:a16="http://schemas.microsoft.com/office/drawing/2014/main" id="{696AC88F-0C1A-4020-89BA-5F157D99485F}"/>
              </a:ext>
            </a:extLst>
          </p:cNvPr>
          <p:cNvSpPr>
            <a:spLocks noGrp="1"/>
          </p:cNvSpPr>
          <p:nvPr/>
        </p:nvSpPr>
        <p:spPr>
          <a:xfrm>
            <a:off x="6000750" y="2095500"/>
            <a:ext cx="2095500" cy="1524000"/>
          </a:xfrm>
          <a:prstGeom prst="roundRect">
            <a:avLst>
              <a:gd name="adj" fmla="val 5000"/>
            </a:avLst>
          </a:prstGeom>
          <a:solidFill>
            <a:srgbClr val="EAF8FD"/>
          </a:solidFill>
          <a:ln w="9525">
            <a:solidFill>
              <a:srgbClr val="BCE5F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arch-4">
            <a:extLst>
              <a:ext uri="{FF2B5EF4-FFF2-40B4-BE49-F238E27FC236}">
                <a16:creationId xmlns:a16="http://schemas.microsoft.com/office/drawing/2014/main" id="{0FC85A9C-F8BE-43C6-B4B4-BA581CAB0454}"/>
              </a:ext>
            </a:extLst>
          </p:cNvPr>
          <p:cNvSpPr>
            <a:spLocks noGrp="1"/>
          </p:cNvSpPr>
          <p:nvPr/>
        </p:nvSpPr>
        <p:spPr>
          <a:xfrm>
            <a:off x="8801100" y="2095500"/>
            <a:ext cx="2990850" cy="1524000"/>
          </a:xfrm>
          <a:prstGeom prst="roundRect">
            <a:avLst>
              <a:gd name="adj" fmla="val 5000"/>
            </a:avLst>
          </a:prstGeom>
          <a:solidFill>
            <a:srgbClr val="EAF8FD"/>
          </a:solidFill>
          <a:ln w="9525">
            <a:solidFill>
              <a:srgbClr val="BCE5F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arch-1-title">
            <a:extLst>
              <a:ext uri="{FF2B5EF4-FFF2-40B4-BE49-F238E27FC236}">
                <a16:creationId xmlns:a16="http://schemas.microsoft.com/office/drawing/2014/main" id="{7EA55D94-24F0-4FBE-BF33-2BEBEB63D088}"/>
              </a:ext>
            </a:extLst>
          </p:cNvPr>
          <p:cNvSpPr>
            <a:spLocks noGrp="1"/>
          </p:cNvSpPr>
          <p:nvPr/>
        </p:nvSpPr>
        <p:spPr>
          <a:xfrm>
            <a:off x="628650" y="2343150"/>
            <a:ext cx="15240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OSDK</a:t>
            </a:r>
          </a:p>
        </p:txBody>
      </p:sp>
      <p:sp>
        <p:nvSpPr>
          <p:cNvPr id="13" name="arch-1-body">
            <a:extLst>
              <a:ext uri="{FF2B5EF4-FFF2-40B4-BE49-F238E27FC236}">
                <a16:creationId xmlns:a16="http://schemas.microsoft.com/office/drawing/2014/main" id="{1AF8DCA0-1CE5-4D94-9374-C185BDA0E9D8}"/>
              </a:ext>
            </a:extLst>
          </p:cNvPr>
          <p:cNvSpPr>
            <a:spLocks noGrp="1"/>
          </p:cNvSpPr>
          <p:nvPr/>
        </p:nvSpPr>
        <p:spPr>
          <a:xfrm>
            <a:off x="628650" y="2819400"/>
            <a:ext cx="1524000" cy="533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cargo osdk debug
连接远端 GDB</a:t>
            </a:r>
          </a:p>
        </p:txBody>
      </p:sp>
      <p:sp>
        <p:nvSpPr>
          <p:cNvPr id="14" name="arch-2-title">
            <a:extLst>
              <a:ext uri="{FF2B5EF4-FFF2-40B4-BE49-F238E27FC236}">
                <a16:creationId xmlns:a16="http://schemas.microsoft.com/office/drawing/2014/main" id="{CCA59520-9BA5-4940-AA81-18E802041854}"/>
              </a:ext>
            </a:extLst>
          </p:cNvPr>
          <p:cNvSpPr>
            <a:spLocks noGrp="1"/>
          </p:cNvSpPr>
          <p:nvPr/>
        </p:nvSpPr>
        <p:spPr>
          <a:xfrm>
            <a:off x="3429000" y="2343150"/>
            <a:ext cx="16192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入口脚本</a:t>
            </a:r>
          </a:p>
        </p:txBody>
      </p:sp>
      <p:sp>
        <p:nvSpPr>
          <p:cNvPr id="15" name="arch-2-body">
            <a:extLst>
              <a:ext uri="{FF2B5EF4-FFF2-40B4-BE49-F238E27FC236}">
                <a16:creationId xmlns:a16="http://schemas.microsoft.com/office/drawing/2014/main" id="{8C3E6508-1986-42F1-B895-5A436C24B583}"/>
              </a:ext>
            </a:extLst>
          </p:cNvPr>
          <p:cNvSpPr>
            <a:spLocks noGrp="1"/>
          </p:cNvSpPr>
          <p:nvPr/>
        </p:nvSpPr>
        <p:spPr>
          <a:xfrm>
            <a:off x="3429000" y="2819400"/>
            <a:ext cx="1619250" cy="533400"/>
          </a:xfrm>
          <a:prstGeom prst="rect">
            <a:avLst/>
          </a:prstGeom>
        </p:spPr>
        <p:txBody>
          <a:bodyPr wrap="square" lIns="0" tIns="0" rIns="0" bIns="0" anchor="t">
            <a:normAutofit fontScale="87597"/>
          </a:bodyPr>
          <a:lstStyle/>
          <a:p>
            <a:pPr algn="l">
              <a:buNone/>
              <a:defRPr sz="1350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asterinas-gdb.py
注册 rust-gdb 与 helpers</a:t>
            </a:r>
          </a:p>
        </p:txBody>
      </p:sp>
      <p:sp>
        <p:nvSpPr>
          <p:cNvPr id="16" name="arch-3-title">
            <a:extLst>
              <a:ext uri="{FF2B5EF4-FFF2-40B4-BE49-F238E27FC236}">
                <a16:creationId xmlns:a16="http://schemas.microsoft.com/office/drawing/2014/main" id="{C72C8011-5DBB-4867-9BAC-D8448CE4BADD}"/>
              </a:ext>
            </a:extLst>
          </p:cNvPr>
          <p:cNvSpPr>
            <a:spLocks noGrp="1"/>
          </p:cNvSpPr>
          <p:nvPr/>
        </p:nvSpPr>
        <p:spPr>
          <a:xfrm>
            <a:off x="6229350" y="2343150"/>
            <a:ext cx="16192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通用基础</a:t>
            </a:r>
          </a:p>
        </p:txBody>
      </p:sp>
      <p:sp>
        <p:nvSpPr>
          <p:cNvPr id="17" name="arch-3-body">
            <a:extLst>
              <a:ext uri="{FF2B5EF4-FFF2-40B4-BE49-F238E27FC236}">
                <a16:creationId xmlns:a16="http://schemas.microsoft.com/office/drawing/2014/main" id="{101A969B-CAE5-4ED7-903C-FA5FC8C5CB96}"/>
              </a:ext>
            </a:extLst>
          </p:cNvPr>
          <p:cNvSpPr>
            <a:spLocks noGrp="1"/>
          </p:cNvSpPr>
          <p:nvPr/>
        </p:nvSpPr>
        <p:spPr>
          <a:xfrm>
            <a:off x="6229350" y="2819400"/>
            <a:ext cx="1619250" cy="533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gdb_bridge
layout · printers</a:t>
            </a:r>
          </a:p>
        </p:txBody>
      </p:sp>
      <p:sp>
        <p:nvSpPr>
          <p:cNvPr id="18" name="arch-4-title">
            <a:extLst>
              <a:ext uri="{FF2B5EF4-FFF2-40B4-BE49-F238E27FC236}">
                <a16:creationId xmlns:a16="http://schemas.microsoft.com/office/drawing/2014/main" id="{8D9F768C-C729-4D23-9294-43016FADF546}"/>
              </a:ext>
            </a:extLst>
          </p:cNvPr>
          <p:cNvSpPr>
            <a:spLocks noGrp="1"/>
          </p:cNvSpPr>
          <p:nvPr/>
        </p:nvSpPr>
        <p:spPr>
          <a:xfrm>
            <a:off x="9029700" y="2343150"/>
            <a:ext cx="2190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内核语义</a:t>
            </a:r>
          </a:p>
        </p:txBody>
      </p:sp>
      <p:sp>
        <p:nvSpPr>
          <p:cNvPr id="19" name="arch-4-body">
            <a:extLst>
              <a:ext uri="{FF2B5EF4-FFF2-40B4-BE49-F238E27FC236}">
                <a16:creationId xmlns:a16="http://schemas.microsoft.com/office/drawing/2014/main" id="{50178364-CBDA-4516-99C2-1178C4B9034A}"/>
              </a:ext>
            </a:extLst>
          </p:cNvPr>
          <p:cNvSpPr>
            <a:spLocks noGrp="1"/>
          </p:cNvSpPr>
          <p:nvPr/>
        </p:nvSpPr>
        <p:spPr>
          <a:xfrm>
            <a:off x="9029700" y="2819400"/>
            <a:ext cx="2381250" cy="533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kernel · commands
PID 表、线程、文件表、jiffies</a:t>
            </a:r>
          </a:p>
        </p:txBody>
      </p:sp>
      <p:sp>
        <p:nvSpPr>
          <p:cNvPr id="20" name="arch-base">
            <a:extLst>
              <a:ext uri="{FF2B5EF4-FFF2-40B4-BE49-F238E27FC236}">
                <a16:creationId xmlns:a16="http://schemas.microsoft.com/office/drawing/2014/main" id="{C32D307B-343E-4FE6-913A-C4942E8325E5}"/>
              </a:ext>
            </a:extLst>
          </p:cNvPr>
          <p:cNvSpPr>
            <a:spLocks noGrp="1"/>
          </p:cNvSpPr>
          <p:nvPr/>
        </p:nvSpPr>
        <p:spPr>
          <a:xfrm>
            <a:off x="400050" y="4438650"/>
            <a:ext cx="11391900" cy="914400"/>
          </a:xfrm>
          <a:prstGeom prst="roundRect">
            <a:avLst>
              <a:gd name="adj" fmla="val 8333"/>
            </a:avLst>
          </a:prstGeom>
          <a:solidFill>
            <a:srgbClr val="0C1826"/>
          </a:solidFill>
          <a:ln w="9525">
            <a:solidFill>
              <a:srgbClr val="0C182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arch-base-text">
            <a:extLst>
              <a:ext uri="{FF2B5EF4-FFF2-40B4-BE49-F238E27FC236}">
                <a16:creationId xmlns:a16="http://schemas.microsoft.com/office/drawing/2014/main" id="{D2F11D3A-12E7-4986-9905-408F566F03EE}"/>
              </a:ext>
            </a:extLst>
          </p:cNvPr>
          <p:cNvSpPr>
            <a:spLocks noGrp="1"/>
          </p:cNvSpPr>
          <p:nvPr/>
        </p:nvSpPr>
        <p:spPr>
          <a:xfrm>
            <a:off x="704850" y="4695825"/>
            <a:ext cx="100012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950" b="1">
                <a:solidFill>
                  <a:srgbClr val="EAF4F8"/>
                </a:solidFill>
                <a:latin typeface="Arial"/>
                <a:ea typeface="Arial"/>
                <a:cs typeface="Arial"/>
              </a:defRPr>
            </a:pPr>
            <a:r>
              <a:t>DWARF 类型信息 + QEMU gdbstub + Asterinas 实时内核对象</a:t>
            </a:r>
          </a:p>
        </p:txBody>
      </p:sp>
      <p:sp>
        <p:nvSpPr>
          <p:cNvPr id="22" name="arch-footer">
            <a:extLst>
              <a:ext uri="{FF2B5EF4-FFF2-40B4-BE49-F238E27FC236}">
                <a16:creationId xmlns:a16="http://schemas.microsoft.com/office/drawing/2014/main" id="{7FAA8260-8B1C-466D-BCDD-8A5577D385D4}"/>
              </a:ext>
            </a:extLst>
          </p:cNvPr>
          <p:cNvSpPr>
            <a:spLocks noGrp="1"/>
          </p:cNvSpPr>
          <p:nvPr/>
        </p:nvSpPr>
        <p:spPr>
          <a:xfrm>
            <a:off x="400050" y="5676900"/>
            <a:ext cx="10477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符号名、类型名和布局敏感常量集中管理；与 Rust 结构耦合的位置显式标记。</a:t>
            </a:r>
          </a:p>
        </p:txBody>
      </p:sp>
    </p:spTree>
    <p:extLst>
      <p:ext uri="{BB962C8B-B14F-4D97-AF65-F5344CB8AC3E}">
        <p14:creationId xmlns:p14="http://schemas.microsoft.com/office/powerpoint/2010/main" val="221907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top-rule"/>
          <p:cNvCxnSpPr/>
          <p:nvPr/>
        </p:nvCxnSpPr>
        <p:spPr>
          <a:xfrm>
            <a:off x="400050" y="295275"/>
            <a:ext cx="11391900" cy="9525"/>
          </a:xfrm>
          <a:prstGeom prst="straightConnector1">
            <a:avLst/>
          </a:prstGeom>
          <a:ln w="9525">
            <a:solidFill>
              <a:srgbClr val="C7D0DA"/>
            </a:solidFill>
            <a:prstDash val="solid"/>
          </a:ln>
        </p:spPr>
      </p:cxnSp>
      <p:sp>
        <p:nvSpPr>
          <p:cNvPr id="2" name="page-number">
            <a:extLst>
              <a:ext uri="{FF2B5EF4-FFF2-40B4-BE49-F238E27FC236}">
                <a16:creationId xmlns:a16="http://schemas.microsoft.com/office/drawing/2014/main" id="{30C69F98-AA83-456F-A653-6AA3111ECAA5}"/>
              </a:ext>
            </a:extLst>
          </p:cNvPr>
          <p:cNvSpPr>
            <a:spLocks noGrp="1"/>
          </p:cNvSpPr>
          <p:nvPr/>
        </p:nvSpPr>
        <p:spPr>
          <a:xfrm>
            <a:off x="11125200" y="6305550"/>
            <a:ext cx="6667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3" name="verification-title">
            <a:extLst>
              <a:ext uri="{FF2B5EF4-FFF2-40B4-BE49-F238E27FC236}">
                <a16:creationId xmlns:a16="http://schemas.microsoft.com/office/drawing/2014/main" id="{3619A76C-48B9-49AE-9CDF-489DDCCEA81C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0668000" cy="552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925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真实 QEMU + GDB smoke test，让 helper 可持续维护</a:t>
            </a:r>
          </a:p>
        </p:txBody>
      </p:sp>
      <p:sp>
        <p:nvSpPr>
          <p:cNvPr id="4" name="verification-subtitle">
            <a:extLst>
              <a:ext uri="{FF2B5EF4-FFF2-40B4-BE49-F238E27FC236}">
                <a16:creationId xmlns:a16="http://schemas.microsoft.com/office/drawing/2014/main" id="{C8A4088C-8123-47A7-A165-059F73973DF0}"/>
              </a:ext>
            </a:extLst>
          </p:cNvPr>
          <p:cNvSpPr>
            <a:spLocks noGrp="1"/>
          </p:cNvSpPr>
          <p:nvPr/>
        </p:nvSpPr>
        <p:spPr>
          <a:xfrm>
            <a:off x="400050" y="1266825"/>
            <a:ext cx="104775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不 mock GDB：启动真实内核，停在稳定时机，再验证读对象和跑命令的完整链路。</a:t>
            </a:r>
          </a:p>
        </p:txBody>
      </p:sp>
      <p:graphicFrame>
        <p:nvGraphicFramePr>
          <p:cNvPr id="21" name="verification-table"/>
          <p:cNvGraphicFramePr/>
          <p:nvPr/>
        </p:nvGraphicFramePr>
        <p:xfrm>
          <a:off x="400050" y="1885950"/>
          <a:ext cx="11391900" cy="220980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2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r>
                        <a:t>阶段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自动化动作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验证结果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t>启动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QEMU + GDB socket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连接真实 Asterinas 内核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t>稳定停点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__ostd_main → syscall handler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PID 1 已建立，可读取进程对象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t>断言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printer、符号、$ast_*、ast-*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基础能力均被自动检查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t>门禁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SMOKE: all 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gdb-smoke-test CI：SUCCESS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rminal">
            <a:extLst>
              <a:ext uri="{FF2B5EF4-FFF2-40B4-BE49-F238E27FC236}">
                <a16:creationId xmlns:a16="http://schemas.microsoft.com/office/drawing/2014/main" id="{65EB9E6E-ABDA-49CD-B22B-D43AF11B7F09}"/>
              </a:ext>
            </a:extLst>
          </p:cNvPr>
          <p:cNvSpPr>
            <a:spLocks noGrp="1"/>
          </p:cNvSpPr>
          <p:nvPr/>
        </p:nvSpPr>
        <p:spPr>
          <a:xfrm>
            <a:off x="400050" y="4457700"/>
            <a:ext cx="7429500" cy="1428750"/>
          </a:xfrm>
          <a:prstGeom prst="roundRect">
            <a:avLst>
              <a:gd name="adj" fmla="val 5333"/>
            </a:avLst>
          </a:prstGeom>
          <a:solidFill>
            <a:srgbClr val="0C1826"/>
          </a:solidFill>
          <a:ln w="9525">
            <a:solidFill>
              <a:srgbClr val="0C182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rminal-head">
            <a:extLst>
              <a:ext uri="{FF2B5EF4-FFF2-40B4-BE49-F238E27FC236}">
                <a16:creationId xmlns:a16="http://schemas.microsoft.com/office/drawing/2014/main" id="{EF622573-62C4-4A7D-B43A-A58B829891CA}"/>
              </a:ext>
            </a:extLst>
          </p:cNvPr>
          <p:cNvSpPr>
            <a:spLocks noGrp="1"/>
          </p:cNvSpPr>
          <p:nvPr/>
        </p:nvSpPr>
        <p:spPr>
          <a:xfrm>
            <a:off x="666750" y="4667250"/>
            <a:ext cx="26670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18BCEB"/>
                </a:solidFill>
                <a:latin typeface="Arial"/>
                <a:ea typeface="Arial"/>
                <a:cs typeface="Arial"/>
              </a:defRPr>
            </a:pPr>
            <a:r>
              <a:t>DEMO COMMANDS</a:t>
            </a:r>
          </a:p>
        </p:txBody>
      </p:sp>
      <p:sp>
        <p:nvSpPr>
          <p:cNvPr id="8" name="terminal-code">
            <a:extLst>
              <a:ext uri="{FF2B5EF4-FFF2-40B4-BE49-F238E27FC236}">
                <a16:creationId xmlns:a16="http://schemas.microsoft.com/office/drawing/2014/main" id="{B1FDFBAF-E13F-470A-A381-7539DE0F19E5}"/>
              </a:ext>
            </a:extLst>
          </p:cNvPr>
          <p:cNvSpPr>
            <a:spLocks noGrp="1"/>
          </p:cNvSpPr>
          <p:nvPr/>
        </p:nvSpPr>
        <p:spPr>
          <a:xfrm>
            <a:off x="666750" y="5010150"/>
            <a:ext cx="6667500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EAF4F8"/>
                </a:solidFill>
                <a:latin typeface="Arial"/>
                <a:ea typeface="Arial"/>
                <a:cs typeface="Arial"/>
              </a:defRPr>
            </a:pPr>
            <a:r>
              <a:t>cargo osdk run --gdb-server wait-client
cargo osdk debug
ast-ps    ast-fds 1    ast-uptime</a:t>
            </a:r>
          </a:p>
        </p:txBody>
      </p:sp>
      <p:sp>
        <p:nvSpPr>
          <p:cNvPr id="9" name="ci-proof">
            <a:extLst>
              <a:ext uri="{FF2B5EF4-FFF2-40B4-BE49-F238E27FC236}">
                <a16:creationId xmlns:a16="http://schemas.microsoft.com/office/drawing/2014/main" id="{77545F42-2D07-4291-A449-AFD3D27960C8}"/>
              </a:ext>
            </a:extLst>
          </p:cNvPr>
          <p:cNvSpPr>
            <a:spLocks noGrp="1"/>
          </p:cNvSpPr>
          <p:nvPr/>
        </p:nvSpPr>
        <p:spPr>
          <a:xfrm>
            <a:off x="8172450" y="4457700"/>
            <a:ext cx="3619500" cy="1428750"/>
          </a:xfrm>
          <a:prstGeom prst="roundRect">
            <a:avLst>
              <a:gd name="adj" fmla="val 5333"/>
            </a:avLst>
          </a:prstGeom>
          <a:solidFill>
            <a:srgbClr val="EAF8FD"/>
          </a:solidFill>
          <a:ln w="9525">
            <a:solidFill>
              <a:srgbClr val="BCE5F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ci-proof-head">
            <a:extLst>
              <a:ext uri="{FF2B5EF4-FFF2-40B4-BE49-F238E27FC236}">
                <a16:creationId xmlns:a16="http://schemas.microsoft.com/office/drawing/2014/main" id="{7C53A09E-7D84-426C-AE00-8B88CC362BA7}"/>
              </a:ext>
            </a:extLst>
          </p:cNvPr>
          <p:cNvSpPr>
            <a:spLocks noGrp="1"/>
          </p:cNvSpPr>
          <p:nvPr/>
        </p:nvSpPr>
        <p:spPr>
          <a:xfrm>
            <a:off x="8477250" y="4686300"/>
            <a:ext cx="27622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独立验证证据</a:t>
            </a:r>
          </a:p>
        </p:txBody>
      </p:sp>
      <p:sp>
        <p:nvSpPr>
          <p:cNvPr id="11" name="ci-proof-main">
            <a:extLst>
              <a:ext uri="{FF2B5EF4-FFF2-40B4-BE49-F238E27FC236}">
                <a16:creationId xmlns:a16="http://schemas.microsoft.com/office/drawing/2014/main" id="{69EC5FF9-2F4F-412E-8E1B-87707E89795C}"/>
              </a:ext>
            </a:extLst>
          </p:cNvPr>
          <p:cNvSpPr>
            <a:spLocks noGrp="1"/>
          </p:cNvSpPr>
          <p:nvPr/>
        </p:nvSpPr>
        <p:spPr>
          <a:xfrm>
            <a:off x="8477250" y="5067300"/>
            <a:ext cx="2762250" cy="495300"/>
          </a:xfrm>
          <a:prstGeom prst="rect">
            <a:avLst/>
          </a:prstGeom>
        </p:spPr>
        <p:txBody>
          <a:bodyPr wrap="square" lIns="0" tIns="0" rIns="0" bIns="0" anchor="t">
            <a:normAutofit fontScale="80247"/>
          </a:bodyPr>
          <a:lstStyle/>
          <a:p>
            <a:pPr algn="l">
              <a:buNone/>
              <a:defRPr sz="2025" b="1">
                <a:solidFill>
                  <a:srgbClr val="007FCB"/>
                </a:solidFill>
                <a:latin typeface="Arial"/>
                <a:ea typeface="Arial"/>
                <a:cs typeface="Arial"/>
              </a:defRPr>
            </a:pPr>
            <a:r>
              <a:t>gdb-smoke-test
SUCCESS</a:t>
            </a:r>
          </a:p>
        </p:txBody>
      </p:sp>
      <p:sp>
        <p:nvSpPr>
          <p:cNvPr id="12" name="verification-footer">
            <a:extLst>
              <a:ext uri="{FF2B5EF4-FFF2-40B4-BE49-F238E27FC236}">
                <a16:creationId xmlns:a16="http://schemas.microsoft.com/office/drawing/2014/main" id="{019453AC-81C5-41AA-8414-D3337DF8788B}"/>
              </a:ext>
            </a:extLst>
          </p:cNvPr>
          <p:cNvSpPr>
            <a:spLocks noGrp="1"/>
          </p:cNvSpPr>
          <p:nvPr/>
        </p:nvSpPr>
        <p:spPr>
          <a:xfrm>
            <a:off x="400050" y="6143625"/>
            <a:ext cx="819150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GitHub Actions · 2026-07-03 · PR #3412</a:t>
            </a:r>
          </a:p>
        </p:txBody>
      </p:sp>
    </p:spTree>
    <p:extLst>
      <p:ext uri="{BB962C8B-B14F-4D97-AF65-F5344CB8AC3E}">
        <p14:creationId xmlns:p14="http://schemas.microsoft.com/office/powerpoint/2010/main" val="287628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top-rule"/>
          <p:cNvCxnSpPr/>
          <p:nvPr/>
        </p:nvCxnSpPr>
        <p:spPr>
          <a:xfrm>
            <a:off x="400050" y="295275"/>
            <a:ext cx="11391900" cy="9525"/>
          </a:xfrm>
          <a:prstGeom prst="straightConnector1">
            <a:avLst/>
          </a:prstGeom>
          <a:ln w="9525">
            <a:solidFill>
              <a:srgbClr val="C7D0DA"/>
            </a:solidFill>
            <a:prstDash val="solid"/>
          </a:ln>
        </p:spPr>
      </p:cxnSp>
      <p:sp>
        <p:nvSpPr>
          <p:cNvPr id="2" name="page-number">
            <a:extLst>
              <a:ext uri="{FF2B5EF4-FFF2-40B4-BE49-F238E27FC236}">
                <a16:creationId xmlns:a16="http://schemas.microsoft.com/office/drawing/2014/main" id="{93E9AF65-67B3-4863-AB3A-074C03C92E23}"/>
              </a:ext>
            </a:extLst>
          </p:cNvPr>
          <p:cNvSpPr>
            <a:spLocks noGrp="1"/>
          </p:cNvSpPr>
          <p:nvPr/>
        </p:nvSpPr>
        <p:spPr>
          <a:xfrm>
            <a:off x="11125200" y="6305550"/>
            <a:ext cx="6667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3" name="outcome-eyebrow">
            <a:extLst>
              <a:ext uri="{FF2B5EF4-FFF2-40B4-BE49-F238E27FC236}">
                <a16:creationId xmlns:a16="http://schemas.microsoft.com/office/drawing/2014/main" id="{3B55777F-727E-439B-B5DE-E93ABA671DF1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4000500" cy="247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007FCB"/>
                </a:solidFill>
                <a:latin typeface="Arial"/>
                <a:ea typeface="Arial"/>
                <a:cs typeface="Arial"/>
              </a:defRPr>
            </a:pPr>
            <a:r>
              <a:t>Asterinas GDB Helpers</a:t>
            </a:r>
          </a:p>
        </p:txBody>
      </p:sp>
      <p:sp>
        <p:nvSpPr>
          <p:cNvPr id="4" name="outcome-title">
            <a:extLst>
              <a:ext uri="{FF2B5EF4-FFF2-40B4-BE49-F238E27FC236}">
                <a16:creationId xmlns:a16="http://schemas.microsoft.com/office/drawing/2014/main" id="{FCB6D125-197F-49AC-930B-39B01EF168D1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9715500" cy="152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900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从“会用 GDB”
到“看懂 Asterinas 状态”</a:t>
            </a:r>
          </a:p>
        </p:txBody>
      </p:sp>
      <p:sp>
        <p:nvSpPr>
          <p:cNvPr id="5" name="outcome-1">
            <a:extLst>
              <a:ext uri="{FF2B5EF4-FFF2-40B4-BE49-F238E27FC236}">
                <a16:creationId xmlns:a16="http://schemas.microsoft.com/office/drawing/2014/main" id="{C6691BDC-26A0-4C51-B697-D717353E241B}"/>
              </a:ext>
            </a:extLst>
          </p:cNvPr>
          <p:cNvSpPr>
            <a:spLocks noGrp="1"/>
          </p:cNvSpPr>
          <p:nvPr/>
        </p:nvSpPr>
        <p:spPr>
          <a:xfrm>
            <a:off x="400050" y="3429000"/>
            <a:ext cx="3238500" cy="1200150"/>
          </a:xfrm>
          <a:prstGeom prst="roundRect">
            <a:avLst>
              <a:gd name="adj" fmla="val 6349"/>
            </a:avLst>
          </a:prstGeom>
          <a:solidFill>
            <a:srgbClr val="EAF8FD"/>
          </a:solidFill>
          <a:ln w="9525">
            <a:solidFill>
              <a:srgbClr val="BCE5F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outcome-2">
            <a:extLst>
              <a:ext uri="{FF2B5EF4-FFF2-40B4-BE49-F238E27FC236}">
                <a16:creationId xmlns:a16="http://schemas.microsoft.com/office/drawing/2014/main" id="{6154F79F-C759-438E-B3C9-D752898C0739}"/>
              </a:ext>
            </a:extLst>
          </p:cNvPr>
          <p:cNvSpPr>
            <a:spLocks noGrp="1"/>
          </p:cNvSpPr>
          <p:nvPr/>
        </p:nvSpPr>
        <p:spPr>
          <a:xfrm>
            <a:off x="4286250" y="3429000"/>
            <a:ext cx="3238500" cy="1200150"/>
          </a:xfrm>
          <a:prstGeom prst="roundRect">
            <a:avLst>
              <a:gd name="adj" fmla="val 6349"/>
            </a:avLst>
          </a:prstGeom>
          <a:solidFill>
            <a:srgbClr val="EAF8FD"/>
          </a:solidFill>
          <a:ln w="9525">
            <a:solidFill>
              <a:srgbClr val="BCE5F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outcome-3">
            <a:extLst>
              <a:ext uri="{FF2B5EF4-FFF2-40B4-BE49-F238E27FC236}">
                <a16:creationId xmlns:a16="http://schemas.microsoft.com/office/drawing/2014/main" id="{6C580A77-DB95-463D-A753-E0100AE31B06}"/>
              </a:ext>
            </a:extLst>
          </p:cNvPr>
          <p:cNvSpPr>
            <a:spLocks noGrp="1"/>
          </p:cNvSpPr>
          <p:nvPr/>
        </p:nvSpPr>
        <p:spPr>
          <a:xfrm>
            <a:off x="8172450" y="3429000"/>
            <a:ext cx="3619500" cy="1200150"/>
          </a:xfrm>
          <a:prstGeom prst="roundRect">
            <a:avLst>
              <a:gd name="adj" fmla="val 6349"/>
            </a:avLst>
          </a:prstGeom>
          <a:solidFill>
            <a:srgbClr val="EAF8FD"/>
          </a:solidFill>
          <a:ln w="9525">
            <a:solidFill>
              <a:srgbClr val="BCE5F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outcome-1-title">
            <a:extLst>
              <a:ext uri="{FF2B5EF4-FFF2-40B4-BE49-F238E27FC236}">
                <a16:creationId xmlns:a16="http://schemas.microsoft.com/office/drawing/2014/main" id="{80C4700E-AC6C-4D23-9569-AD604B2C252F}"/>
              </a:ext>
            </a:extLst>
          </p:cNvPr>
          <p:cNvSpPr>
            <a:spLocks noGrp="1"/>
          </p:cNvSpPr>
          <p:nvPr/>
        </p:nvSpPr>
        <p:spPr>
          <a:xfrm>
            <a:off x="666750" y="3695700"/>
            <a:ext cx="2095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零侵入</a:t>
            </a:r>
          </a:p>
        </p:txBody>
      </p:sp>
      <p:sp>
        <p:nvSpPr>
          <p:cNvPr id="9" name="outcome-1-body">
            <a:extLst>
              <a:ext uri="{FF2B5EF4-FFF2-40B4-BE49-F238E27FC236}">
                <a16:creationId xmlns:a16="http://schemas.microsoft.com/office/drawing/2014/main" id="{D90BB344-6999-45E5-8129-78B8C47BC8F9}"/>
              </a:ext>
            </a:extLst>
          </p:cNvPr>
          <p:cNvSpPr>
            <a:spLocks noGrp="1"/>
          </p:cNvSpPr>
          <p:nvPr/>
        </p:nvSpPr>
        <p:spPr>
          <a:xfrm>
            <a:off x="666750" y="4114800"/>
            <a:ext cx="2286000" cy="4191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依赖 DWARF、GDB Python
和现有内核对象。</a:t>
            </a:r>
          </a:p>
        </p:txBody>
      </p:sp>
      <p:sp>
        <p:nvSpPr>
          <p:cNvPr id="10" name="outcome-2-title">
            <a:extLst>
              <a:ext uri="{FF2B5EF4-FFF2-40B4-BE49-F238E27FC236}">
                <a16:creationId xmlns:a16="http://schemas.microsoft.com/office/drawing/2014/main" id="{ACBC020E-4734-4CC7-B592-C8106B5F8F42}"/>
              </a:ext>
            </a:extLst>
          </p:cNvPr>
          <p:cNvSpPr>
            <a:spLocks noGrp="1"/>
          </p:cNvSpPr>
          <p:nvPr/>
        </p:nvSpPr>
        <p:spPr>
          <a:xfrm>
            <a:off x="4552950" y="3695700"/>
            <a:ext cx="2095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开箱可用</a:t>
            </a:r>
          </a:p>
        </p:txBody>
      </p:sp>
      <p:sp>
        <p:nvSpPr>
          <p:cNvPr id="11" name="outcome-2-body">
            <a:extLst>
              <a:ext uri="{FF2B5EF4-FFF2-40B4-BE49-F238E27FC236}">
                <a16:creationId xmlns:a16="http://schemas.microsoft.com/office/drawing/2014/main" id="{FD23955A-86F0-4A26-A98D-9B31B8D7F0A1}"/>
              </a:ext>
            </a:extLst>
          </p:cNvPr>
          <p:cNvSpPr>
            <a:spLocks noGrp="1"/>
          </p:cNvSpPr>
          <p:nvPr/>
        </p:nvSpPr>
        <p:spPr>
          <a:xfrm>
            <a:off x="4552950" y="4114800"/>
            <a:ext cx="2286000" cy="4191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OSDK 自动加载 helpers，
高频命令可直接调用。</a:t>
            </a:r>
          </a:p>
        </p:txBody>
      </p:sp>
      <p:sp>
        <p:nvSpPr>
          <p:cNvPr id="12" name="outcome-3-title">
            <a:extLst>
              <a:ext uri="{FF2B5EF4-FFF2-40B4-BE49-F238E27FC236}">
                <a16:creationId xmlns:a16="http://schemas.microsoft.com/office/drawing/2014/main" id="{4F1917A9-1D4C-403C-8F08-3DA4F4BF8D55}"/>
              </a:ext>
            </a:extLst>
          </p:cNvPr>
          <p:cNvSpPr>
            <a:spLocks noGrp="1"/>
          </p:cNvSpPr>
          <p:nvPr/>
        </p:nvSpPr>
        <p:spPr>
          <a:xfrm>
            <a:off x="8439150" y="3695700"/>
            <a:ext cx="2476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可持续演进</a:t>
            </a:r>
          </a:p>
        </p:txBody>
      </p:sp>
      <p:sp>
        <p:nvSpPr>
          <p:cNvPr id="13" name="outcome-3-body">
            <a:extLst>
              <a:ext uri="{FF2B5EF4-FFF2-40B4-BE49-F238E27FC236}">
                <a16:creationId xmlns:a16="http://schemas.microsoft.com/office/drawing/2014/main" id="{7E9D92E5-584F-4746-ACA4-6FF128E66E49}"/>
              </a:ext>
            </a:extLst>
          </p:cNvPr>
          <p:cNvSpPr>
            <a:spLocks noGrp="1"/>
          </p:cNvSpPr>
          <p:nvPr/>
        </p:nvSpPr>
        <p:spPr>
          <a:xfrm>
            <a:off x="8439150" y="4114800"/>
            <a:ext cx="2762250" cy="4191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真实 QEMU + GDB smoke test
防止布局变更后的静默失效。</a:t>
            </a:r>
          </a:p>
        </p:txBody>
      </p:sp>
      <p:sp>
        <p:nvSpPr>
          <p:cNvPr id="14" name="outcome-next">
            <a:extLst>
              <a:ext uri="{FF2B5EF4-FFF2-40B4-BE49-F238E27FC236}">
                <a16:creationId xmlns:a16="http://schemas.microsoft.com/office/drawing/2014/main" id="{7FB47314-017E-4AE0-AAC0-822CEAB9068A}"/>
              </a:ext>
            </a:extLst>
          </p:cNvPr>
          <p:cNvSpPr>
            <a:spLocks noGrp="1"/>
          </p:cNvSpPr>
          <p:nvPr/>
        </p:nvSpPr>
        <p:spPr>
          <a:xfrm>
            <a:off x="400050" y="5219700"/>
            <a:ext cx="95250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007FCB"/>
                </a:solidFill>
                <a:latin typeface="Arial"/>
                <a:ea typeface="Arial"/>
                <a:cs typeface="Arial"/>
              </a:defRPr>
            </a:pPr>
            <a:r>
              <a:t>下一步：调度 · 内存 · 锁竞争 · 网络诊断</a:t>
            </a:r>
          </a:p>
        </p:txBody>
      </p:sp>
      <p:sp>
        <p:nvSpPr>
          <p:cNvPr id="15" name="outcome-links">
            <a:extLst>
              <a:ext uri="{FF2B5EF4-FFF2-40B4-BE49-F238E27FC236}">
                <a16:creationId xmlns:a16="http://schemas.microsoft.com/office/drawing/2014/main" id="{F35DC1F0-003D-4D51-9682-3F03E1BB7389}"/>
              </a:ext>
            </a:extLst>
          </p:cNvPr>
          <p:cNvSpPr>
            <a:spLocks noGrp="1"/>
          </p:cNvSpPr>
          <p:nvPr/>
        </p:nvSpPr>
        <p:spPr>
          <a:xfrm>
            <a:off x="400050" y="5962650"/>
            <a:ext cx="981075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PR #3412  ·  Issue #3094  ·  github.com/zevorn/asterinas</a:t>
            </a:r>
          </a:p>
        </p:txBody>
      </p:sp>
    </p:spTree>
    <p:extLst>
      <p:ext uri="{BB962C8B-B14F-4D97-AF65-F5344CB8AC3E}">
        <p14:creationId xmlns:p14="http://schemas.microsoft.com/office/powerpoint/2010/main" val="1878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top-rule"/>
          <p:cNvCxnSpPr/>
          <p:nvPr/>
        </p:nvCxnSpPr>
        <p:spPr>
          <a:xfrm>
            <a:off x="400050" y="295275"/>
            <a:ext cx="11391900" cy="9525"/>
          </a:xfrm>
          <a:prstGeom prst="straightConnector1">
            <a:avLst/>
          </a:prstGeom>
          <a:ln w="9525">
            <a:solidFill>
              <a:srgbClr val="C7D0DA"/>
            </a:solidFill>
            <a:prstDash val="solid"/>
          </a:ln>
        </p:spPr>
      </p:cxnSp>
      <p:sp>
        <p:nvSpPr>
          <p:cNvPr id="2" name="page-number">
            <a:extLst>
              <a:ext uri="{FF2B5EF4-FFF2-40B4-BE49-F238E27FC236}">
                <a16:creationId xmlns:a16="http://schemas.microsoft.com/office/drawing/2014/main" id="{30C69F98-AA83-456F-A653-6AA3111ECAA5}"/>
              </a:ext>
            </a:extLst>
          </p:cNvPr>
          <p:cNvSpPr>
            <a:spLocks noGrp="1"/>
          </p:cNvSpPr>
          <p:nvPr/>
        </p:nvSpPr>
        <p:spPr>
          <a:xfrm>
            <a:off x="11125200" y="6305550"/>
            <a:ext cx="6667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3" name="verification-title">
            <a:extLst>
              <a:ext uri="{FF2B5EF4-FFF2-40B4-BE49-F238E27FC236}">
                <a16:creationId xmlns:a16="http://schemas.microsoft.com/office/drawing/2014/main" id="{3619A76C-48B9-49AE-9CDF-489DDCCEA81C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0668000" cy="552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925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演示环节：从自动加载到内核状态检查</a:t>
            </a:r>
          </a:p>
        </p:txBody>
      </p:sp>
      <p:sp>
        <p:nvSpPr>
          <p:cNvPr id="4" name="verification-subtitle">
            <a:extLst>
              <a:ext uri="{FF2B5EF4-FFF2-40B4-BE49-F238E27FC236}">
                <a16:creationId xmlns:a16="http://schemas.microsoft.com/office/drawing/2014/main" id="{C8A4088C-8123-47A7-A165-059F73973DF0}"/>
              </a:ext>
            </a:extLst>
          </p:cNvPr>
          <p:cNvSpPr>
            <a:spLocks noGrp="1"/>
          </p:cNvSpPr>
          <p:nvPr/>
        </p:nvSpPr>
        <p:spPr>
          <a:xfrm>
            <a:off x="400050" y="1266825"/>
            <a:ext cx="104775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视频从 OSDK 自动加载开始，依次展示进程、线程、文件描述符与运行时间。</a:t>
            </a:r>
          </a:p>
        </p:txBody>
      </p:sp>
      <p:graphicFrame>
        <p:nvGraphicFramePr>
          <p:cNvPr id="21" name="verification-table"/>
          <p:cNvGraphicFramePr/>
          <p:nvPr/>
        </p:nvGraphicFramePr>
        <p:xfrm>
          <a:off x="400050" y="1885950"/>
          <a:ext cx="11391900" cy="220980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2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r>
                        <a:t>类别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支持命令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视频中展示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t>版本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ast-version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入口脚本与版本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t>进程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ast-ps · ast-pstree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定位目标进程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t>资源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ast-threads · ast-fds &lt;PID&gt;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检查运行期资源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t>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ast-uptime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快速确认系统状态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rminal">
            <a:extLst>
              <a:ext uri="{FF2B5EF4-FFF2-40B4-BE49-F238E27FC236}">
                <a16:creationId xmlns:a16="http://schemas.microsoft.com/office/drawing/2014/main" id="{65EB9E6E-ABDA-49CD-B22B-D43AF11B7F09}"/>
              </a:ext>
            </a:extLst>
          </p:cNvPr>
          <p:cNvSpPr>
            <a:spLocks noGrp="1"/>
          </p:cNvSpPr>
          <p:nvPr/>
        </p:nvSpPr>
        <p:spPr>
          <a:xfrm>
            <a:off x="400050" y="4457700"/>
            <a:ext cx="7429500" cy="1428750"/>
          </a:xfrm>
          <a:prstGeom prst="roundRect">
            <a:avLst>
              <a:gd name="adj" fmla="val 5333"/>
            </a:avLst>
          </a:prstGeom>
          <a:solidFill>
            <a:srgbClr val="0C1826"/>
          </a:solidFill>
          <a:ln w="9525">
            <a:solidFill>
              <a:srgbClr val="0C182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rminal-head">
            <a:extLst>
              <a:ext uri="{FF2B5EF4-FFF2-40B4-BE49-F238E27FC236}">
                <a16:creationId xmlns:a16="http://schemas.microsoft.com/office/drawing/2014/main" id="{EF622573-62C4-4A7D-B43A-A58B829891CA}"/>
              </a:ext>
            </a:extLst>
          </p:cNvPr>
          <p:cNvSpPr>
            <a:spLocks noGrp="1"/>
          </p:cNvSpPr>
          <p:nvPr/>
        </p:nvSpPr>
        <p:spPr>
          <a:xfrm>
            <a:off x="666750" y="4667250"/>
            <a:ext cx="26670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18BCEB"/>
                </a:solidFill>
                <a:latin typeface="Arial"/>
                <a:ea typeface="Arial"/>
                <a:cs typeface="Arial"/>
              </a:defRPr>
            </a:pPr>
            <a:r>
              <a:t>SUPPORTED COMMANDS</a:t>
            </a:r>
          </a:p>
        </p:txBody>
      </p:sp>
      <p:sp>
        <p:nvSpPr>
          <p:cNvPr id="8" name="terminal-code">
            <a:extLst>
              <a:ext uri="{FF2B5EF4-FFF2-40B4-BE49-F238E27FC236}">
                <a16:creationId xmlns:a16="http://schemas.microsoft.com/office/drawing/2014/main" id="{B1FDFBAF-E13F-470A-A381-7539DE0F19E5}"/>
              </a:ext>
            </a:extLst>
          </p:cNvPr>
          <p:cNvSpPr>
            <a:spLocks noGrp="1"/>
          </p:cNvSpPr>
          <p:nvPr/>
        </p:nvSpPr>
        <p:spPr>
          <a:xfrm>
            <a:off x="666750" y="5010150"/>
            <a:ext cx="6667500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EAF4F8"/>
                </a:solidFill>
                <a:latin typeface="Arial"/>
                <a:ea typeface="Arial"/>
                <a:cs typeface="Arial"/>
              </a:defRPr>
            </a:pPr>
            <a:r>
              <a:t>ast-version  ast-ps [PID]  ast-threads
ast-pstree   ast-fds &lt;PID&gt;  ast-uptime</a:t>
            </a:r>
          </a:p>
        </p:txBody>
      </p:sp>
      <p:sp>
        <p:nvSpPr>
          <p:cNvPr id="9" name="ci-proof">
            <a:extLst>
              <a:ext uri="{FF2B5EF4-FFF2-40B4-BE49-F238E27FC236}">
                <a16:creationId xmlns:a16="http://schemas.microsoft.com/office/drawing/2014/main" id="{77545F42-2D07-4291-A449-AFD3D27960C8}"/>
              </a:ext>
            </a:extLst>
          </p:cNvPr>
          <p:cNvSpPr>
            <a:spLocks noGrp="1"/>
          </p:cNvSpPr>
          <p:nvPr/>
        </p:nvSpPr>
        <p:spPr>
          <a:xfrm>
            <a:off x="8172450" y="4457700"/>
            <a:ext cx="3619500" cy="1428750"/>
          </a:xfrm>
          <a:prstGeom prst="roundRect">
            <a:avLst>
              <a:gd name="adj" fmla="val 5333"/>
            </a:avLst>
          </a:prstGeom>
          <a:solidFill>
            <a:srgbClr val="EAF8FD"/>
          </a:solidFill>
          <a:ln w="9525">
            <a:solidFill>
              <a:srgbClr val="BCE5F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ci-proof-head">
            <a:extLst>
              <a:ext uri="{FF2B5EF4-FFF2-40B4-BE49-F238E27FC236}">
                <a16:creationId xmlns:a16="http://schemas.microsoft.com/office/drawing/2014/main" id="{7C53A09E-7D84-426C-AE00-8B88CC362BA7}"/>
              </a:ext>
            </a:extLst>
          </p:cNvPr>
          <p:cNvSpPr>
            <a:spLocks noGrp="1"/>
          </p:cNvSpPr>
          <p:nvPr/>
        </p:nvSpPr>
        <p:spPr>
          <a:xfrm>
            <a:off x="8477250" y="4686300"/>
            <a:ext cx="27622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视频演示</a:t>
            </a:r>
          </a:p>
        </p:txBody>
      </p:sp>
      <p:sp>
        <p:nvSpPr>
          <p:cNvPr id="11" name="ci-proof-main">
            <a:extLst>
              <a:ext uri="{FF2B5EF4-FFF2-40B4-BE49-F238E27FC236}">
                <a16:creationId xmlns:a16="http://schemas.microsoft.com/office/drawing/2014/main" id="{69EC5FF9-2F4F-412E-8E1B-87707E89795C}"/>
              </a:ext>
            </a:extLst>
          </p:cNvPr>
          <p:cNvSpPr>
            <a:spLocks noGrp="1"/>
          </p:cNvSpPr>
          <p:nvPr/>
        </p:nvSpPr>
        <p:spPr>
          <a:xfrm>
            <a:off x="8477250" y="5067300"/>
            <a:ext cx="2762250" cy="495300"/>
          </a:xfrm>
          <a:prstGeom prst="rect">
            <a:avLst/>
          </a:prstGeom>
        </p:spPr>
        <p:txBody>
          <a:bodyPr wrap="square" lIns="0" tIns="0" rIns="0" bIns="0" anchor="t">
            <a:normAutofit fontScale="80247"/>
          </a:bodyPr>
          <a:lstStyle/>
          <a:p>
            <a:pPr algn="l">
              <a:buNone/>
              <a:defRPr sz="2025" b="1">
                <a:solidFill>
                  <a:srgbClr val="007FCB"/>
                </a:solidFill>
                <a:latin typeface="Arial"/>
                <a:ea typeface="Arial"/>
                <a:cs typeface="Arial"/>
              </a:defRPr>
            </a:pPr>
            <a:r>
              <a:t>自动加载 → 进程状态
→ 文件描述符 → uptime</a:t>
            </a:r>
          </a:p>
        </p:txBody>
      </p:sp>
      <p:sp>
        <p:nvSpPr>
          <p:cNvPr id="12" name="verification-footer">
            <a:extLst>
              <a:ext uri="{FF2B5EF4-FFF2-40B4-BE49-F238E27FC236}">
                <a16:creationId xmlns:a16="http://schemas.microsoft.com/office/drawing/2014/main" id="{019453AC-81C5-41AA-8414-D3337DF8788B}"/>
              </a:ext>
            </a:extLst>
          </p:cNvPr>
          <p:cNvSpPr>
            <a:spLocks noGrp="1"/>
          </p:cNvSpPr>
          <p:nvPr/>
        </p:nvSpPr>
        <p:spPr>
          <a:xfrm>
            <a:off x="400050" y="6143625"/>
            <a:ext cx="819150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PR #3412 · Issue #3094 · 视频：OSDK + GDB</a:t>
            </a:r>
          </a:p>
        </p:txBody>
      </p:sp>
    </p:spTree>
    <p:extLst>
      <p:ext uri="{BB962C8B-B14F-4D97-AF65-F5344CB8AC3E}">
        <p14:creationId xmlns:p14="http://schemas.microsoft.com/office/powerpoint/2010/main" val="28762823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449</Words>
  <Application>Microsoft Macintosh PowerPoint</Application>
  <DocSecurity>0</DocSecurity>
  <PresentationFormat>Widescreen</PresentationFormat>
  <Paragraphs>101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Chao Liu</cp:lastModifiedBy>
  <cp:revision>1</cp:revision>
  <dcterms:created xsi:type="dcterms:W3CDTF">2026-07-10T12:11:16Z</dcterms:created>
  <dcterms:modified xsi:type="dcterms:W3CDTF">2026-07-10T14:39:38Z</dcterms:modified>
</cp:coreProperties>
</file>