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3620feb1d746b9" /><Relationship Type="http://schemas.openxmlformats.org/officeDocument/2006/relationships/extended-properties" Target="/docProps/app.xml" Id="Rdb79a1047e3c4e91" /><Relationship Type="http://schemas.openxmlformats.org/officeDocument/2006/relationships/officeDocument" Target="/ppt/presentation.xml" Id="R1a142d42cbf442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6e7fd96d074455"/>
  </p:sldMasterIdLst>
  <p:notesMasterIdLst>
    <p:notesMasterId xmlns:r="http://schemas.openxmlformats.org/officeDocument/2006/relationships" r:id="R53c7704e0cb54dc1"/>
  </p:notesMasterIdLst>
  <p:sldIdLst>
    <p:sldId xmlns:r="http://schemas.openxmlformats.org/officeDocument/2006/relationships" id="256" r:id="Rb5096a34ec494429"/>
    <p:sldId xmlns:r="http://schemas.openxmlformats.org/officeDocument/2006/relationships" id="257" r:id="Rea1550ba3665482d"/>
    <p:sldId xmlns:r="http://schemas.openxmlformats.org/officeDocument/2006/relationships" id="258" r:id="R9cb41b7de8524998"/>
    <p:sldId xmlns:r="http://schemas.openxmlformats.org/officeDocument/2006/relationships" id="259" r:id="Re1b5677385f64da3"/>
    <p:sldId xmlns:r="http://schemas.openxmlformats.org/officeDocument/2006/relationships" id="260" r:id="R42168bd1578a40e1"/>
    <p:sldId xmlns:r="http://schemas.openxmlformats.org/officeDocument/2006/relationships" id="261" r:id="Rb7124ab0830b485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55f5bbda9455d" /><Relationship Type="http://schemas.openxmlformats.org/officeDocument/2006/relationships/slideMaster" Target="/ppt/slideMasters/slideMaster1.xml" Id="Rd66e7fd96d074455" /><Relationship Type="http://schemas.openxmlformats.org/officeDocument/2006/relationships/notesMaster" Target="/ppt/notesMasters/notesMaster1.xml" Id="R53c7704e0cb54dc1" /><Relationship Type="http://schemas.openxmlformats.org/officeDocument/2006/relationships/presProps" Target="/ppt/presProps.xml" Id="R2922707a2b094cc7" /><Relationship Type="http://schemas.openxmlformats.org/officeDocument/2006/relationships/tableStyles" Target="/ppt/tableStyles.xml" Id="Rdd009c3216fd4659" /><Relationship Type="http://schemas.openxmlformats.org/officeDocument/2006/relationships/slide" Target="/ppt/slides/slide1.xml" Id="Rb5096a34ec494429" /><Relationship Type="http://schemas.openxmlformats.org/officeDocument/2006/relationships/slide" Target="/ppt/slides/slide2.xml" Id="Rea1550ba3665482d" /><Relationship Type="http://schemas.openxmlformats.org/officeDocument/2006/relationships/slide" Target="/ppt/slides/slide3.xml" Id="R9cb41b7de8524998" /><Relationship Type="http://schemas.openxmlformats.org/officeDocument/2006/relationships/slide" Target="/ppt/slides/slide4.xml" Id="Re1b5677385f64da3" /><Relationship Type="http://schemas.openxmlformats.org/officeDocument/2006/relationships/slide" Target="/ppt/slides/slide5.xml" Id="R42168bd1578a40e1" /><Relationship Type="http://schemas.openxmlformats.org/officeDocument/2006/relationships/slide" Target="/ppt/slides/slide6.xml" Id="Rb7124ab0830b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e5b2eaf394c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470b23e4594b5d" /><Relationship Type="http://schemas.openxmlformats.org/officeDocument/2006/relationships/notesMaster" Target="/ppt/notesMasters/notesMaster1.xml" Id="R9c7a50173762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266856d314240" /><Relationship Type="http://schemas.openxmlformats.org/officeDocument/2006/relationships/notesMaster" Target="/ppt/notesMasters/notesMaster1.xml" Id="R926f38e952444d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c57836d2f34ae0" /><Relationship Type="http://schemas.openxmlformats.org/officeDocument/2006/relationships/notesMaster" Target="/ppt/notesMasters/notesMaster1.xml" Id="R6d6453a8b43747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a51e7b88af4db8" /><Relationship Type="http://schemas.openxmlformats.org/officeDocument/2006/relationships/notesMaster" Target="/ppt/notesMasters/notesMaster1.xml" Id="R75b5b467497e47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130f1875ee4f9c" /><Relationship Type="http://schemas.openxmlformats.org/officeDocument/2006/relationships/notesMaster" Target="/ppt/notesMasters/notesMaster1.xml" Id="R1bfd7e2164f840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e912055fb14f63" /><Relationship Type="http://schemas.openxmlformats.org/officeDocument/2006/relationships/notesMaster" Target="/ppt/notesMasters/notesMaster1.xml" Id="R21c4a585ca5b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d957fc4fa48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c8083bbaf465b" /><Relationship Type="http://schemas.openxmlformats.org/officeDocument/2006/relationships/slideLayout" Target="/ppt/slideLayouts/slideLayout1.xml" Id="R05fd72a5a6b24c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d72a5a6b2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1b10bdcaa4716" /><Relationship Type="http://schemas.openxmlformats.org/officeDocument/2006/relationships/image" Target="/ppt/media/image.jpeg" Id="R04890fe1a07345c4" /><Relationship Type="http://schemas.openxmlformats.org/officeDocument/2006/relationships/notesSlide" Target="/ppt/notesSlides/notesSlide1.xml" Id="R5ef312ef51f840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06410f9d94943" /><Relationship Type="http://schemas.openxmlformats.org/officeDocument/2006/relationships/notesSlide" Target="/ppt/notesSlides/notesSlide2.xml" Id="R3d2fa518751241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4b3643d794402" /><Relationship Type="http://schemas.openxmlformats.org/officeDocument/2006/relationships/notesSlide" Target="/ppt/notesSlides/notesSlide3.xml" Id="Rc1370f038b4448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7b88d940f4cc8" /><Relationship Type="http://schemas.openxmlformats.org/officeDocument/2006/relationships/notesSlide" Target="/ppt/notesSlides/notesSlide4.xml" Id="Rfa722324496042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8434378754629" /><Relationship Type="http://schemas.openxmlformats.org/officeDocument/2006/relationships/notesSlide" Target="/ppt/notesSlides/notesSlide5.xml" Id="R1da1835302a3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ce1cc0f9942b4" /><Relationship Type="http://schemas.openxmlformats.org/officeDocument/2006/relationships/notesSlide" Target="/ppt/notesSlides/notesSlide6.xml" Id="Rf9888c28c5ad45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top-rule"/>
          <p:cNvCxnSpPr/>
          <p:nvPr/>
        </p:nvCxnSpPr>
        <p:spPr>
          <a:xfrm xmlns:a="http://schemas.openxmlformats.org/drawingml/2006/main">
            <a:off x="400050" y="2952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50697A7-0C6A-41F3-8FD3-39D00690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C48267AB-AD80-4E99-9C51-68ACF1E9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CEB"/>
          </a:solidFill>
          <a:ln xmlns:a="http://schemas.openxmlformats.org/drawingml/2006/main" w="0">
            <a:solidFill>
              <a:srgbClr val="18BCEB"/>
            </a:solidFill>
            <a:prstDash val="solid"/>
          </a:ln>
        </p:spPr>
      </p:sp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10A6850-D826-4F17-B4C1-ADDCF048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14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第八届 CCF 开源创新大赛 · 星绽开源社区贡献赛题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CFD7711-B331-4B43-9581-86BE96A8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33400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Asterinas
GDB Helpers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2ADB23-6C3F-458C-A7AC-7A70B3C6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4953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把一次真实排障，沉淀成可验证的 Debug Workflow</a:t>
            </a:r>
          </a:p>
        </p:txBody>
      </p:sp>
      <p:sp>
        <p:nvSpPr>
          <p:cNvPr id="7" name="cover-info">
            <a:extLst xmlns:a="http://schemas.openxmlformats.org/drawingml/2006/main">
              <a:ext uri="{FF2B5EF4-FFF2-40B4-BE49-F238E27FC236}">
                <a16:creationId xmlns:a16="http://schemas.microsoft.com/office/drawing/2014/main" id="{072F4E86-0F32-47D2-806B-5DBF6932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4933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8" name="cover-info-text">
            <a:extLst xmlns:a="http://schemas.openxmlformats.org/drawingml/2006/main">
              <a:ext uri="{FF2B5EF4-FFF2-40B4-BE49-F238E27FC236}">
                <a16:creationId xmlns:a16="http://schemas.microsoft.com/office/drawing/2014/main" id="{28C118AF-D7E0-4506-872C-77476B10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主成果：PR #3412
设计讨论：Issue #3094</a:t>
            </a:r>
          </a:p>
        </p:txBody>
      </p:sp>
      <p:sp>
        <p:nvSpPr>
          <p:cNvPr id="9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2FD5435B-4194-402C-AC0D-A696E602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23900"/>
            <a:ext cx="5838825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C1826"/>
          </a:solidFill>
          <a:ln xmlns:a="http://schemas.openxmlformats.org/drawingml/2006/main" w="9525">
            <a:solidFill>
              <a:srgbClr val="0C1826"/>
            </a:solidFill>
            <a:prstDash val="solid"/>
          </a:ln>
        </p:spPr>
      </p:sp>
      <p:sp>
        <p:nvSpPr>
          <p:cNvPr id="10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DFB5612-D478-4E5D-B63D-D4A867E9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搭把手战队 · 泽文 / 邵志航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90fe1a07345c4"/>
          <a:stretch xmlns:a="http://schemas.openxmlformats.org/drawingml/2006/main"/>
        </p:blipFill>
        <p:spPr>
          <a:xfrm xmlns:a="http://schemas.openxmlformats.org/drawingml/2006/main">
            <a:off x="5953125" y="1957369"/>
            <a:ext cx="5838825" cy="2486062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</p:spTree>
    <p:extLst>
      <p:ext uri="{BB962C8B-B14F-4D97-AF65-F5344CB8AC3E}">
        <p14:creationId xmlns:p14="http://schemas.microsoft.com/office/powerpoint/2010/main" val="5265763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op-rule"/>
          <p:cNvCxnSpPr/>
          <p:nvPr/>
        </p:nvCxnSpPr>
        <p:spPr>
          <a:xfrm xmlns:a="http://schemas.openxmlformats.org/drawingml/2006/main">
            <a:off x="400050" y="2952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BD7492-6299-4488-8468-C3F858B6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3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425BC812-08C8-4191-BDF0-B62891EF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一次断错误排障，暴露了 Rust 内核调试的注意力成本</a:t>
            </a:r>
          </a:p>
        </p:txBody>
      </p:sp>
      <p:sp>
        <p:nvSpPr>
          <p:cNvPr id="4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E044AAEE-E4C2-4827-A786-F2AFE202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685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起点不是抽象需求，而是一次真实的进程加载异常。</a:t>
            </a:r>
          </a:p>
        </p:txBody>
      </p:sp>
      <p:cxnSp>
        <p:nvCxnSpPr>
          <p:cNvPr id="27" name="debug-flow-line"/>
          <p:cNvCxnSpPr/>
          <p:nvPr/>
        </p:nvCxnSpPr>
        <p:spPr>
          <a:xfrm xmlns:a="http://schemas.openxmlformats.org/drawingml/2006/main">
            <a:off x="895350" y="2571750"/>
            <a:ext cx="5105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cxnSp>
        <p:nvCxnSpPr>
          <p:cNvPr id="28" name="debug-flow-1"/>
          <p:cNvCxnSpPr/>
          <p:nvPr/>
        </p:nvCxnSpPr>
        <p:spPr>
          <a:xfrm xmlns:a="http://schemas.openxmlformats.org/drawingml/2006/main">
            <a:off x="2019300" y="25717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cxnSp>
        <p:nvCxnSpPr>
          <p:cNvPr id="29" name="debug-flow-2"/>
          <p:cNvCxnSpPr/>
          <p:nvPr/>
        </p:nvCxnSpPr>
        <p:spPr>
          <a:xfrm xmlns:a="http://schemas.openxmlformats.org/drawingml/2006/main">
            <a:off x="3714750" y="25717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cxnSp>
        <p:nvCxnSpPr>
          <p:cNvPr id="30" name="debug-flow-3"/>
          <p:cNvCxnSpPr/>
          <p:nvPr/>
        </p:nvCxnSpPr>
        <p:spPr>
          <a:xfrm xmlns:a="http://schemas.openxmlformats.org/drawingml/2006/main">
            <a:off x="5410200" y="25717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3B7571DD-8A1C-4405-95BE-421EA26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333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7697FAA4-BD7C-4462-94B1-F003FB1C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00250"/>
            <a:ext cx="1333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1" name="flow-3">
            <a:extLst xmlns:a="http://schemas.openxmlformats.org/drawingml/2006/main">
              <a:ext uri="{FF2B5EF4-FFF2-40B4-BE49-F238E27FC236}">
                <a16:creationId xmlns:a16="http://schemas.microsoft.com/office/drawing/2014/main" id="{30D8967B-5530-4680-9789-FA16433B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00250"/>
            <a:ext cx="1333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2" name="flow-4">
            <a:extLst xmlns:a="http://schemas.openxmlformats.org/drawingml/2006/main">
              <a:ext uri="{FF2B5EF4-FFF2-40B4-BE49-F238E27FC236}">
                <a16:creationId xmlns:a16="http://schemas.microsoft.com/office/drawing/2014/main" id="{2AF7C537-BF6D-43C3-A844-D5D1AF28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00250"/>
            <a:ext cx="1333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3" name="flow-1-text">
            <a:extLst xmlns:a="http://schemas.openxmlformats.org/drawingml/2006/main">
              <a:ext uri="{FF2B5EF4-FFF2-40B4-BE49-F238E27FC236}">
                <a16:creationId xmlns:a16="http://schemas.microsoft.com/office/drawing/2014/main" id="{6ABE49A2-AA37-487F-8EF6-AAA40B44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进程加载
PT_INTERP</a:t>
            </a:r>
          </a:p>
        </p:txBody>
      </p:sp>
      <p:sp>
        <p:nvSpPr>
          <p:cNvPr id="14" name="flow-2-text">
            <a:extLst xmlns:a="http://schemas.openxmlformats.org/drawingml/2006/main">
              <a:ext uri="{FF2B5EF4-FFF2-40B4-BE49-F238E27FC236}">
                <a16:creationId xmlns:a16="http://schemas.microsoft.com/office/drawing/2014/main" id="{37A4D4A2-DA57-45FE-B59E-71D95EC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动态库版本
错配</a:t>
            </a:r>
          </a:p>
        </p:txBody>
      </p:sp>
      <p:sp>
        <p:nvSpPr>
          <p:cNvPr id="15" name="flow-3-text">
            <a:extLst xmlns:a="http://schemas.openxmlformats.org/drawingml/2006/main">
              <a:ext uri="{FF2B5EF4-FFF2-40B4-BE49-F238E27FC236}">
                <a16:creationId xmlns:a16="http://schemas.microsoft.com/office/drawing/2014/main" id="{321D54B3-D066-40B6-9E12-3040C088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98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符号名相同
地址偏移</a:t>
            </a:r>
          </a:p>
        </p:txBody>
      </p:sp>
      <p:sp>
        <p:nvSpPr>
          <p:cNvPr id="16" name="flow-4-text">
            <a:extLst xmlns:a="http://schemas.openxmlformats.org/drawingml/2006/main">
              <a:ext uri="{FF2B5EF4-FFF2-40B4-BE49-F238E27FC236}">
                <a16:creationId xmlns:a16="http://schemas.microsoft.com/office/drawing/2014/main" id="{46504CD0-C094-49B7-94D3-19459D3B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9800"/>
            <a:ext cx="95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trap →
Segfault</a:t>
            </a:r>
          </a:p>
        </p:txBody>
      </p:sp>
      <p:sp>
        <p:nvSpPr>
          <p:cNvPr id="17" name="attention-panel">
            <a:extLst xmlns:a="http://schemas.openxmlformats.org/drawingml/2006/main">
              <a:ext uri="{FF2B5EF4-FFF2-40B4-BE49-F238E27FC236}">
                <a16:creationId xmlns:a16="http://schemas.microsoft.com/office/drawing/2014/main" id="{D5EA5D3B-F7E7-4B6D-A0DD-354218E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44386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9525">
            <a:solidFill>
              <a:srgbClr val="F1F4F7"/>
            </a:solidFill>
            <a:prstDash val="solid"/>
          </a:ln>
        </p:spPr>
      </p:sp>
      <p:sp>
        <p:nvSpPr>
          <p:cNvPr id="18" name="attention-title">
            <a:extLst xmlns:a="http://schemas.openxmlformats.org/drawingml/2006/main">
              <a:ext uri="{FF2B5EF4-FFF2-40B4-BE49-F238E27FC236}">
                <a16:creationId xmlns:a16="http://schemas.microsoft.com/office/drawing/2014/main" id="{9D67021C-E5C1-4180-B906-F58E540D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145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真正拖慢排障的，是重复动作</a:t>
            </a:r>
          </a:p>
        </p:txBody>
      </p:sp>
      <p:sp>
        <p:nvSpPr>
          <p:cNvPr id="19" name="attention-1">
            <a:extLst xmlns:a="http://schemas.openxmlformats.org/drawingml/2006/main">
              <a:ext uri="{FF2B5EF4-FFF2-40B4-BE49-F238E27FC236}">
                <a16:creationId xmlns:a16="http://schemas.microsoft.com/office/drawing/2014/main" id="{0DD21A8A-7F28-465B-814B-5C44606A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3676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01  Rust 符号冗长、相似，调用链难读</a:t>
            </a:r>
          </a:p>
        </p:txBody>
      </p:sp>
      <p:sp>
        <p:nvSpPr>
          <p:cNvPr id="20" name="attention-2">
            <a:extLst xmlns:a="http://schemas.openxmlformats.org/drawingml/2006/main">
              <a:ext uri="{FF2B5EF4-FFF2-40B4-BE49-F238E27FC236}">
                <a16:creationId xmlns:a16="http://schemas.microsoft.com/office/drawing/2014/main" id="{03990BDC-B12B-4D78-913A-BC97170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90900"/>
            <a:ext cx="3676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02  wrapper 展开，业务值被 UnsafeCell 淹没</a:t>
            </a:r>
          </a:p>
        </p:txBody>
      </p:sp>
      <p:sp>
        <p:nvSpPr>
          <p:cNvPr id="21" name="attention-3">
            <a:extLst xmlns:a="http://schemas.openxmlformats.org/drawingml/2006/main">
              <a:ext uri="{FF2B5EF4-FFF2-40B4-BE49-F238E27FC236}">
                <a16:creationId xmlns:a16="http://schemas.microsoft.com/office/drawing/2014/main" id="{BABB92E0-DF28-4E04-8336-AC7D04EB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3676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03  找对象要穿过 PID 表、锁和集合</a:t>
            </a:r>
          </a:p>
        </p:txBody>
      </p:sp>
      <p:sp>
        <p:nvSpPr>
          <p:cNvPr id="22" name="problem-bottom">
            <a:extLst xmlns:a="http://schemas.openxmlformats.org/drawingml/2006/main">
              <a:ext uri="{FF2B5EF4-FFF2-40B4-BE49-F238E27FC236}">
                <a16:creationId xmlns:a16="http://schemas.microsoft.com/office/drawing/2014/main" id="{274F9EA2-BF41-4100-AE20-2D5EBB94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001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每一项都不难；组合起来，却会持续打断调试者的思路。</a:t>
            </a:r>
          </a:p>
        </p:txBody>
      </p:sp>
    </p:spTree>
    <p:extLst>
      <p:ext uri="{BB962C8B-B14F-4D97-AF65-F5344CB8AC3E}">
        <p14:creationId xmlns:p14="http://schemas.microsoft.com/office/powerpoint/2010/main" val="1760600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top-rule"/>
          <p:cNvCxnSpPr/>
          <p:nvPr/>
        </p:nvCxnSpPr>
        <p:spPr>
          <a:xfrm xmlns:a="http://schemas.openxmlformats.org/drawingml/2006/main">
            <a:off x="400050" y="2952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876E2E-431A-4C3C-91C6-94FF17A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3" name="strategy-title">
            <a:extLst xmlns:a="http://schemas.openxmlformats.org/drawingml/2006/main">
              <a:ext uri="{FF2B5EF4-FFF2-40B4-BE49-F238E27FC236}">
                <a16:creationId xmlns:a16="http://schemas.microsoft.com/office/drawing/2014/main" id="{68E0C996-47C1-434B-B77F-3593D0A4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先做高 ROI 的三层能力，避免堆叠临时命令</a:t>
            </a:r>
          </a:p>
        </p:txBody>
      </p:sp>
      <p:sp>
        <p:nvSpPr>
          <p:cNvPr id="4" name="strategy-subtitle">
            <a:extLst xmlns:a="http://schemas.openxmlformats.org/drawingml/2006/main">
              <a:ext uri="{FF2B5EF4-FFF2-40B4-BE49-F238E27FC236}">
                <a16:creationId xmlns:a16="http://schemas.microsoft.com/office/drawing/2014/main" id="{862E0EEE-9876-48F3-BD8A-A4C4F4D9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从最通用的减噪开始，再把对象导航和聚合展示交给合适的层。</a:t>
            </a:r>
          </a:p>
        </p:txBody>
      </p:sp>
      <p:cxnSp>
        <p:nvCxnSpPr>
          <p:cNvPr id="24" name="strategy-line"/>
          <p:cNvCxnSpPr/>
          <p:nvPr/>
        </p:nvCxnSpPr>
        <p:spPr>
          <a:xfrm xmlns:a="http://schemas.openxmlformats.org/drawingml/2006/main">
            <a:off x="1066800" y="3238500"/>
            <a:ext cx="9429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CB"/>
            </a:solidFill>
            <a:prstDash val="solid"/>
          </a:ln>
        </p:spPr>
      </p:cxnSp>
      <p:sp>
        <p:nvSpPr>
          <p:cNvPr id="6" name="strategy-dot-1">
            <a:extLst xmlns:a="http://schemas.openxmlformats.org/drawingml/2006/main">
              <a:ext uri="{FF2B5EF4-FFF2-40B4-BE49-F238E27FC236}">
                <a16:creationId xmlns:a16="http://schemas.microsoft.com/office/drawing/2014/main" id="{1B0E2854-4B3D-4142-ABE6-BF1DB962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B"/>
          </a:solidFill>
          <a:ln xmlns:a="http://schemas.openxmlformats.org/drawingml/2006/main" w="9525">
            <a:solidFill>
              <a:srgbClr val="007FCB"/>
            </a:solidFill>
            <a:prstDash val="solid"/>
          </a:ln>
        </p:spPr>
      </p:sp>
      <p:sp>
        <p:nvSpPr>
          <p:cNvPr id="7" name="strategy-dot-2">
            <a:extLst xmlns:a="http://schemas.openxmlformats.org/drawingml/2006/main">
              <a:ext uri="{FF2B5EF4-FFF2-40B4-BE49-F238E27FC236}">
                <a16:creationId xmlns:a16="http://schemas.microsoft.com/office/drawing/2014/main" id="{2B952C73-C654-4D9A-80DC-DFD139AF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B"/>
          </a:solidFill>
          <a:ln xmlns:a="http://schemas.openxmlformats.org/drawingml/2006/main" w="9525">
            <a:solidFill>
              <a:srgbClr val="007FCB"/>
            </a:solidFill>
            <a:prstDash val="solid"/>
          </a:ln>
        </p:spPr>
      </p:sp>
      <p:sp>
        <p:nvSpPr>
          <p:cNvPr id="8" name="strategy-dot-3">
            <a:extLst xmlns:a="http://schemas.openxmlformats.org/drawingml/2006/main">
              <a:ext uri="{FF2B5EF4-FFF2-40B4-BE49-F238E27FC236}">
                <a16:creationId xmlns:a16="http://schemas.microsoft.com/office/drawing/2014/main" id="{87DA4A8F-0064-4432-AE8E-907102DB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CB"/>
          </a:solidFill>
          <a:ln xmlns:a="http://schemas.openxmlformats.org/drawingml/2006/main" w="9525">
            <a:solidFill>
              <a:srgbClr val="007FCB"/>
            </a:solidFill>
            <a:prstDash val="solid"/>
          </a:ln>
        </p:spPr>
      </p:sp>
      <p:sp>
        <p:nvSpPr>
          <p:cNvPr id="9" name="strategy-label-1">
            <a:extLst xmlns:a="http://schemas.openxmlformats.org/drawingml/2006/main">
              <a:ext uri="{FF2B5EF4-FFF2-40B4-BE49-F238E27FC236}">
                <a16:creationId xmlns:a16="http://schemas.microsoft.com/office/drawing/2014/main" id="{9939C2BA-5964-4D5A-A52A-11BB3679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714625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第一层</a:t>
            </a:r>
          </a:p>
        </p:txBody>
      </p:sp>
      <p:sp>
        <p:nvSpPr>
          <p:cNvPr id="10" name="strategy-label-2">
            <a:extLst xmlns:a="http://schemas.openxmlformats.org/drawingml/2006/main">
              <a:ext uri="{FF2B5EF4-FFF2-40B4-BE49-F238E27FC236}">
                <a16:creationId xmlns:a16="http://schemas.microsoft.com/office/drawing/2014/main" id="{15CDF3EC-7052-4D8B-9090-6149557A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14625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第二层</a:t>
            </a:r>
          </a:p>
        </p:txBody>
      </p:sp>
      <p:sp>
        <p:nvSpPr>
          <p:cNvPr id="11" name="strategy-label-3">
            <a:extLst xmlns:a="http://schemas.openxmlformats.org/drawingml/2006/main">
              <a:ext uri="{FF2B5EF4-FFF2-40B4-BE49-F238E27FC236}">
                <a16:creationId xmlns:a16="http://schemas.microsoft.com/office/drawing/2014/main" id="{2D82D75A-01B5-424E-ABAC-59FB839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14625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第三层</a:t>
            </a:r>
          </a:p>
        </p:txBody>
      </p:sp>
      <p:sp>
        <p:nvSpPr>
          <p:cNvPr id="12" name="strategy-1-title">
            <a:extLst xmlns:a="http://schemas.openxmlformats.org/drawingml/2006/main">
              <a:ext uri="{FF2B5EF4-FFF2-40B4-BE49-F238E27FC236}">
                <a16:creationId xmlns:a16="http://schemas.microsoft.com/office/drawing/2014/main" id="{6BA38B75-F003-426E-9671-C03D17D4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先压低类型噪声</a:t>
            </a:r>
          </a:p>
        </p:txBody>
      </p:sp>
      <p:sp>
        <p:nvSpPr>
          <p:cNvPr id="13" name="strategy-1-body">
            <a:extLst xmlns:a="http://schemas.openxmlformats.org/drawingml/2006/main">
              <a:ext uri="{FF2B5EF4-FFF2-40B4-BE49-F238E27FC236}">
                <a16:creationId xmlns:a16="http://schemas.microsoft.com/office/drawing/2014/main" id="{9E6C60B4-B629-4B66-A094-C3AF069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2381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Atomic、Mutex、RwMutex、SpinLock
先以人能读懂的形式显示。</a:t>
            </a:r>
          </a:p>
        </p:txBody>
      </p:sp>
      <p:sp>
        <p:nvSpPr>
          <p:cNvPr id="14" name="strategy-2-title">
            <a:extLst xmlns:a="http://schemas.openxmlformats.org/drawingml/2006/main">
              <a:ext uri="{FF2B5EF4-FFF2-40B4-BE49-F238E27FC236}">
                <a16:creationId xmlns:a16="http://schemas.microsoft.com/office/drawing/2014/main" id="{6ED3E819-763E-49A4-B803-EFC31EDF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再解决对象导航</a:t>
            </a:r>
          </a:p>
        </p:txBody>
      </p:sp>
      <p:sp>
        <p:nvSpPr>
          <p:cNvPr id="15" name="strategy-2-body">
            <a:extLst xmlns:a="http://schemas.openxmlformats.org/drawingml/2006/main">
              <a:ext uri="{FF2B5EF4-FFF2-40B4-BE49-F238E27FC236}">
                <a16:creationId xmlns:a16="http://schemas.microsoft.com/office/drawing/2014/main" id="{7B81368A-B5FA-4E19-8810-3DAFF925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23812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$ast_process、$ast_thread 等函数
直接把 GDB 带到目标对象。</a:t>
            </a:r>
          </a:p>
        </p:txBody>
      </p:sp>
      <p:sp>
        <p:nvSpPr>
          <p:cNvPr id="16" name="strategy-3-title">
            <a:extLst xmlns:a="http://schemas.openxmlformats.org/drawingml/2006/main">
              <a:ext uri="{FF2B5EF4-FFF2-40B4-BE49-F238E27FC236}">
                <a16:creationId xmlns:a16="http://schemas.microsoft.com/office/drawing/2014/main" id="{9F25116F-A3FE-4F0A-9CC3-FCC93E5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最后保留聚合命令</a:t>
            </a:r>
          </a:p>
        </p:txBody>
      </p:sp>
      <p:sp>
        <p:nvSpPr>
          <p:cNvPr id="17" name="strategy-3-body">
            <a:extLst xmlns:a="http://schemas.openxmlformats.org/drawingml/2006/main">
              <a:ext uri="{FF2B5EF4-FFF2-40B4-BE49-F238E27FC236}">
                <a16:creationId xmlns:a16="http://schemas.microsoft.com/office/drawing/2014/main" id="{5184DC0D-6E10-4467-BD28-04B51BFA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7195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ast-ps、ast-fds、ast-pstree
只处理遍历、汇总和表格展示。</a:t>
            </a:r>
          </a:p>
        </p:txBody>
      </p:sp>
      <p:sp>
        <p:nvSpPr>
          <p:cNvPr id="18" name="strategy-claim">
            <a:extLst xmlns:a="http://schemas.openxmlformats.org/drawingml/2006/main">
              <a:ext uri="{FF2B5EF4-FFF2-40B4-BE49-F238E27FC236}">
                <a16:creationId xmlns:a16="http://schemas.microsoft.com/office/drawing/2014/main" id="{B4BAE31A-7614-4210-8B6B-BF7C463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9" name="strategy-claim-text">
            <a:extLst xmlns:a="http://schemas.openxmlformats.org/drawingml/2006/main">
              <a:ext uri="{FF2B5EF4-FFF2-40B4-BE49-F238E27FC236}">
                <a16:creationId xmlns:a16="http://schemas.microsoft.com/office/drawing/2014/main" id="{8A49F9F6-AE7B-42E9-BA84-42093D13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导航交给 helper，展示交给 GDB，pretty-printer 负责降低噪声。</a:t>
            </a:r>
          </a:p>
        </p:txBody>
      </p:sp>
    </p:spTree>
    <p:extLst>
      <p:ext uri="{BB962C8B-B14F-4D97-AF65-F5344CB8AC3E}">
        <p14:creationId xmlns:p14="http://schemas.microsoft.com/office/powerpoint/2010/main" val="537519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top-rule"/>
          <p:cNvCxnSpPr/>
          <p:nvPr/>
        </p:nvCxnSpPr>
        <p:spPr>
          <a:xfrm xmlns:a="http://schemas.openxmlformats.org/drawingml/2006/main">
            <a:off x="400050" y="2952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B9FE02-010B-42A1-8029-C4A3CC08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3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C7472CFA-B236-4B51-A1B4-EC3F245E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OSDK 自动加载，布局知识集中在少数模块</a:t>
            </a:r>
          </a:p>
        </p:txBody>
      </p:sp>
      <p:sp>
        <p:nvSpPr>
          <p:cNvPr id="4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B8C1D1B5-4BCB-43DE-811F-473438A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开发者进入调试会话时，连接、加载和核心 helper 已经就绪。</a:t>
            </a:r>
          </a:p>
        </p:txBody>
      </p:sp>
      <p:cxnSp>
        <p:nvCxnSpPr>
          <p:cNvPr id="27" name="arch-conn-1"/>
          <p:cNvCxnSpPr/>
          <p:nvPr/>
        </p:nvCxnSpPr>
        <p:spPr>
          <a:xfrm xmlns:a="http://schemas.openxmlformats.org/drawingml/2006/main">
            <a:off x="2609850" y="27241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cxnSp>
        <p:nvCxnSpPr>
          <p:cNvPr id="28" name="arch-conn-2"/>
          <p:cNvCxnSpPr/>
          <p:nvPr/>
        </p:nvCxnSpPr>
        <p:spPr>
          <a:xfrm xmlns:a="http://schemas.openxmlformats.org/drawingml/2006/main">
            <a:off x="5410200" y="27241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cxnSp>
        <p:nvCxnSpPr>
          <p:cNvPr id="29" name="arch-conn-3"/>
          <p:cNvCxnSpPr/>
          <p:nvPr/>
        </p:nvCxnSpPr>
        <p:spPr>
          <a:xfrm xmlns:a="http://schemas.openxmlformats.org/drawingml/2006/main">
            <a:off x="8210550" y="2724150"/>
            <a:ext cx="571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CB"/>
            </a:solidFill>
            <a:prstDash val="solid"/>
          </a:ln>
        </p:spPr>
      </p:cxnSp>
      <p:sp>
        <p:nvSpPr>
          <p:cNvPr id="8" name="arch-1">
            <a:extLst xmlns:a="http://schemas.openxmlformats.org/drawingml/2006/main">
              <a:ext uri="{FF2B5EF4-FFF2-40B4-BE49-F238E27FC236}">
                <a16:creationId xmlns:a16="http://schemas.microsoft.com/office/drawing/2014/main" id="{E31DA79F-3BCD-4D1F-A821-8E432F6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9" name="arch-2">
            <a:extLst xmlns:a="http://schemas.openxmlformats.org/drawingml/2006/main">
              <a:ext uri="{FF2B5EF4-FFF2-40B4-BE49-F238E27FC236}">
                <a16:creationId xmlns:a16="http://schemas.microsoft.com/office/drawing/2014/main" id="{508DBC85-E9D5-417D-8DB4-D3B4D9E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955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0" name="arch-3">
            <a:extLst xmlns:a="http://schemas.openxmlformats.org/drawingml/2006/main">
              <a:ext uri="{FF2B5EF4-FFF2-40B4-BE49-F238E27FC236}">
                <a16:creationId xmlns:a16="http://schemas.microsoft.com/office/drawing/2014/main" id="{696AC88F-0C1A-4020-89BA-5F157D99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2095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1" name="arch-4">
            <a:extLst xmlns:a="http://schemas.openxmlformats.org/drawingml/2006/main">
              <a:ext uri="{FF2B5EF4-FFF2-40B4-BE49-F238E27FC236}">
                <a16:creationId xmlns:a16="http://schemas.microsoft.com/office/drawing/2014/main" id="{0FC85A9C-F8BE-43C6-B4B4-BA581CAB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990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2" name="arch-1-title">
            <a:extLst xmlns:a="http://schemas.openxmlformats.org/drawingml/2006/main">
              <a:ext uri="{FF2B5EF4-FFF2-40B4-BE49-F238E27FC236}">
                <a16:creationId xmlns:a16="http://schemas.microsoft.com/office/drawing/2014/main" id="{7EA55D94-24F0-4FBE-BF33-2BEBEB63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OSDK</a:t>
            </a:r>
          </a:p>
        </p:txBody>
      </p:sp>
      <p:sp>
        <p:nvSpPr>
          <p:cNvPr id="13" name="arch-1-body">
            <a:extLst xmlns:a="http://schemas.openxmlformats.org/drawingml/2006/main">
              <a:ext uri="{FF2B5EF4-FFF2-40B4-BE49-F238E27FC236}">
                <a16:creationId xmlns:a16="http://schemas.microsoft.com/office/drawing/2014/main" id="{1AF8DCA0-1CE5-4D94-9374-C185BDA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524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cargo osdk debug
连接远端 GDB</a:t>
            </a:r>
          </a:p>
        </p:txBody>
      </p:sp>
      <p:sp>
        <p:nvSpPr>
          <p:cNvPr id="14" name="arch-2-title">
            <a:extLst xmlns:a="http://schemas.openxmlformats.org/drawingml/2006/main">
              <a:ext uri="{FF2B5EF4-FFF2-40B4-BE49-F238E27FC236}">
                <a16:creationId xmlns:a16="http://schemas.microsoft.com/office/drawing/2014/main" id="{CCA59520-9BA5-4940-AA81-18E8020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入口脚本</a:t>
            </a:r>
          </a:p>
        </p:txBody>
      </p:sp>
      <p:sp>
        <p:nvSpPr>
          <p:cNvPr id="15" name="arch-2-body">
            <a:extLst xmlns:a="http://schemas.openxmlformats.org/drawingml/2006/main">
              <a:ext uri="{FF2B5EF4-FFF2-40B4-BE49-F238E27FC236}">
                <a16:creationId xmlns:a16="http://schemas.microsoft.com/office/drawing/2014/main" id="{8C3E6508-1986-42F1-B895-5A436C24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1619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5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asterinas-gdb.py
注册 rust-gdb 与 helpers</a:t>
            </a:r>
          </a:p>
        </p:txBody>
      </p:sp>
      <p:sp>
        <p:nvSpPr>
          <p:cNvPr id="16" name="arch-3-title">
            <a:extLst xmlns:a="http://schemas.openxmlformats.org/drawingml/2006/main">
              <a:ext uri="{FF2B5EF4-FFF2-40B4-BE49-F238E27FC236}">
                <a16:creationId xmlns:a16="http://schemas.microsoft.com/office/drawing/2014/main" id="{C72C8011-5DBB-4867-9BAC-D8448CE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通用基础</a:t>
            </a:r>
          </a:p>
        </p:txBody>
      </p:sp>
      <p:sp>
        <p:nvSpPr>
          <p:cNvPr id="17" name="arch-3-body">
            <a:extLst xmlns:a="http://schemas.openxmlformats.org/drawingml/2006/main">
              <a:ext uri="{FF2B5EF4-FFF2-40B4-BE49-F238E27FC236}">
                <a16:creationId xmlns:a16="http://schemas.microsoft.com/office/drawing/2014/main" id="{101A969B-CAE5-4ED7-903C-FA5FC8C5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1619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gdb_bridge
layout · printers</a:t>
            </a:r>
          </a:p>
        </p:txBody>
      </p:sp>
      <p:sp>
        <p:nvSpPr>
          <p:cNvPr id="18" name="arch-4-title">
            <a:extLst xmlns:a="http://schemas.openxmlformats.org/drawingml/2006/main">
              <a:ext uri="{FF2B5EF4-FFF2-40B4-BE49-F238E27FC236}">
                <a16:creationId xmlns:a16="http://schemas.microsoft.com/office/drawing/2014/main" id="{8D9F768C-C729-4D23-9294-43016FAD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内核语义</a:t>
            </a:r>
          </a:p>
        </p:txBody>
      </p:sp>
      <p:sp>
        <p:nvSpPr>
          <p:cNvPr id="19" name="arch-4-body">
            <a:extLst xmlns:a="http://schemas.openxmlformats.org/drawingml/2006/main">
              <a:ext uri="{FF2B5EF4-FFF2-40B4-BE49-F238E27FC236}">
                <a16:creationId xmlns:a16="http://schemas.microsoft.com/office/drawing/2014/main" id="{50178364-CBDA-4516-99C2-1178C4B9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38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kernel · commands
PID 表、线程、文件表、jiffies</a:t>
            </a:r>
          </a:p>
        </p:txBody>
      </p:sp>
      <p:sp>
        <p:nvSpPr>
          <p:cNvPr id="20" name="arch-base">
            <a:extLst xmlns:a="http://schemas.openxmlformats.org/drawingml/2006/main">
              <a:ext uri="{FF2B5EF4-FFF2-40B4-BE49-F238E27FC236}">
                <a16:creationId xmlns:a16="http://schemas.microsoft.com/office/drawing/2014/main" id="{C32D307B-343E-4FE6-913A-C4942E83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C1826"/>
          </a:solidFill>
          <a:ln xmlns:a="http://schemas.openxmlformats.org/drawingml/2006/main" w="9525">
            <a:solidFill>
              <a:srgbClr val="0C1826"/>
            </a:solidFill>
            <a:prstDash val="solid"/>
          </a:ln>
        </p:spPr>
      </p:sp>
      <p:sp>
        <p:nvSpPr>
          <p:cNvPr id="21" name="arch-base-text">
            <a:extLst xmlns:a="http://schemas.openxmlformats.org/drawingml/2006/main">
              <a:ext uri="{FF2B5EF4-FFF2-40B4-BE49-F238E27FC236}">
                <a16:creationId xmlns:a16="http://schemas.microsoft.com/office/drawing/2014/main" id="{D2F11D3A-12E7-4986-9905-408F566F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95825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AF4F8"/>
                </a:solidFill>
                <a:latin typeface="Arial"/>
                <a:ea typeface="Arial"/>
                <a:cs typeface="Arial"/>
              </a:defRPr>
            </a:pPr>
            <a:r>
              <a:t>DWARF 类型信息 + QEMU gdbstub + Asterinas 实时内核对象</a:t>
            </a:r>
          </a:p>
        </p:txBody>
      </p:sp>
      <p:sp>
        <p:nvSpPr>
          <p:cNvPr id="22" name="arch-footer">
            <a:extLst xmlns:a="http://schemas.openxmlformats.org/drawingml/2006/main">
              <a:ext uri="{FF2B5EF4-FFF2-40B4-BE49-F238E27FC236}">
                <a16:creationId xmlns:a16="http://schemas.microsoft.com/office/drawing/2014/main" id="{7FAA8260-8B1C-466D-BCDD-8A5577D3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符号名、类型名和布局敏感常量集中管理；与 Rust 结构耦合的位置显式标记。</a:t>
            </a:r>
          </a:p>
        </p:txBody>
      </p:sp>
    </p:spTree>
    <p:extLst>
      <p:ext uri="{BB962C8B-B14F-4D97-AF65-F5344CB8AC3E}">
        <p14:creationId xmlns:p14="http://schemas.microsoft.com/office/powerpoint/2010/main" val="221907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top-rule"/>
          <p:cNvCxnSpPr/>
          <p:nvPr/>
        </p:nvCxnSpPr>
        <p:spPr>
          <a:xfrm xmlns:a="http://schemas.openxmlformats.org/drawingml/2006/main">
            <a:off x="400050" y="2952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C69F98-AA83-456F-A653-6AA3111E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3" name="verification-title">
            <a:extLst xmlns:a="http://schemas.openxmlformats.org/drawingml/2006/main">
              <a:ext uri="{FF2B5EF4-FFF2-40B4-BE49-F238E27FC236}">
                <a16:creationId xmlns:a16="http://schemas.microsoft.com/office/drawing/2014/main" id="{3619A76C-48B9-49AE-9CDF-489DDCCE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真实 QEMU + GDB smoke test，让 helper 可持续维护</a:t>
            </a:r>
          </a:p>
        </p:txBody>
      </p:sp>
      <p:sp>
        <p:nvSpPr>
          <p:cNvPr id="4" name="verification-subtitle">
            <a:extLst xmlns:a="http://schemas.openxmlformats.org/drawingml/2006/main">
              <a:ext uri="{FF2B5EF4-FFF2-40B4-BE49-F238E27FC236}">
                <a16:creationId xmlns:a16="http://schemas.microsoft.com/office/drawing/2014/main" id="{C8A4088C-8123-47A7-A165-059F7397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66825"/>
            <a:ext cx="1047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不 mock GDB：启动真实内核，停在稳定时机，再验证读对象和跑命令的完整链路。</a:t>
            </a:r>
          </a:p>
        </p:txBody>
      </p:sp>
      <p:graphicFrame>
        <p:nvGraphicFramePr>
          <p:cNvPr id="17" name="verification-table"/>
          <p:cNvGraphicFramePr/>
          <p:nvPr/>
        </p:nvGraphicFramePr>
        <p:xfrm>
          <a:off xmlns:a="http://schemas.openxmlformats.org/drawingml/2006/main" x="400050" y="1885950"/>
          <a:ext xmlns:a="http://schemas.openxmlformats.org/drawingml/2006/main" cx="113919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429250"/>
                <a:gridCol w="4152900"/>
              </a:tblGrid>
              <a:tr h="441960">
                <a:tc>
                  <a:txBody>
                    <a:bodyPr/>
                    <a:lstStyle/>
                    <a:p>
                      <a:r>
                        <a:t>阶段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自动化动作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验证结果</a:t>
                      </a:r>
                    </a:p>
                  </a:txBody>
                  <a:tcPr marL="91440" marR="91440" marT="45720" marB="45720"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启动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QEMU + GDB socket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连接真实 Asterinas 内核</a:t>
                      </a:r>
                    </a:p>
                  </a:txBody>
                  <a:tcPr marL="91440" marR="91440" marT="45720" marB="45720"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稳定停点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__ostd_main → syscall handler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PID 1 已建立，可读取进程对象</a:t>
                      </a:r>
                    </a:p>
                  </a:txBody>
                  <a:tcPr marL="91440" marR="91440" marT="45720" marB="45720"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断言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printer、符号、$ast_*、ast-*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基础能力均被自动检查</a:t>
                      </a:r>
                    </a:p>
                  </a:txBody>
                  <a:tcPr marL="91440" marR="91440" marT="45720" marB="45720"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t>门禁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SMOKE: all ok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gdb-smoke-test CI：SUCCESS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terminal">
            <a:extLst xmlns:a="http://schemas.openxmlformats.org/drawingml/2006/main">
              <a:ext uri="{FF2B5EF4-FFF2-40B4-BE49-F238E27FC236}">
                <a16:creationId xmlns:a16="http://schemas.microsoft.com/office/drawing/2014/main" id="{65EB9E6E-ABDA-49CD-B22B-D43AF11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742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C1826"/>
          </a:solidFill>
          <a:ln xmlns:a="http://schemas.openxmlformats.org/drawingml/2006/main" w="9525">
            <a:solidFill>
              <a:srgbClr val="0C1826"/>
            </a:solidFill>
            <a:prstDash val="solid"/>
          </a:ln>
        </p:spPr>
      </p:sp>
      <p:sp>
        <p:nvSpPr>
          <p:cNvPr id="7" name="terminal-head">
            <a:extLst xmlns:a="http://schemas.openxmlformats.org/drawingml/2006/main">
              <a:ext uri="{FF2B5EF4-FFF2-40B4-BE49-F238E27FC236}">
                <a16:creationId xmlns:a16="http://schemas.microsoft.com/office/drawing/2014/main" id="{EF622573-62C4-4A7D-B43A-A58B8298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BCEB"/>
                </a:solidFill>
                <a:latin typeface="Arial"/>
                <a:ea typeface="Arial"/>
                <a:cs typeface="Arial"/>
              </a:defRPr>
            </a:pPr>
            <a:r>
              <a:t>DEMO COMMANDS</a:t>
            </a:r>
          </a:p>
        </p:txBody>
      </p:sp>
      <p:sp>
        <p:nvSpPr>
          <p:cNvPr id="8" name="terminal-code">
            <a:extLst xmlns:a="http://schemas.openxmlformats.org/drawingml/2006/main">
              <a:ext uri="{FF2B5EF4-FFF2-40B4-BE49-F238E27FC236}">
                <a16:creationId xmlns:a16="http://schemas.microsoft.com/office/drawing/2014/main" id="{B1FDFBAF-E13F-470A-A381-7539DE0F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666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AF4F8"/>
                </a:solidFill>
                <a:latin typeface="Arial"/>
                <a:ea typeface="Arial"/>
                <a:cs typeface="Arial"/>
              </a:defRPr>
            </a:pPr>
            <a:r>
              <a:t>cargo osdk run --gdb-server wait-client
cargo osdk debug
ast-ps    ast-fds 1    ast-uptime</a:t>
            </a:r>
          </a:p>
        </p:txBody>
      </p:sp>
      <p:sp>
        <p:nvSpPr>
          <p:cNvPr id="9" name="ci-proof">
            <a:extLst xmlns:a="http://schemas.openxmlformats.org/drawingml/2006/main">
              <a:ext uri="{FF2B5EF4-FFF2-40B4-BE49-F238E27FC236}">
                <a16:creationId xmlns:a16="http://schemas.microsoft.com/office/drawing/2014/main" id="{77545F42-2D07-4291-A449-AFD3D279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619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10" name="ci-proof-head">
            <a:extLst xmlns:a="http://schemas.openxmlformats.org/drawingml/2006/main">
              <a:ext uri="{FF2B5EF4-FFF2-40B4-BE49-F238E27FC236}">
                <a16:creationId xmlns:a16="http://schemas.microsoft.com/office/drawing/2014/main" id="{7C53A09E-7D84-426C-AE00-8B88CC36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独立验证证据</a:t>
            </a:r>
          </a:p>
        </p:txBody>
      </p:sp>
      <p:sp>
        <p:nvSpPr>
          <p:cNvPr id="11" name="ci-proof-main">
            <a:extLst xmlns:a="http://schemas.openxmlformats.org/drawingml/2006/main">
              <a:ext uri="{FF2B5EF4-FFF2-40B4-BE49-F238E27FC236}">
                <a16:creationId xmlns:a16="http://schemas.microsoft.com/office/drawing/2014/main" id="{69EC5FF9-2F4F-412E-8E1B-87707E89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67300"/>
            <a:ext cx="2762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gdb-smoke-test
SUCCESS</a:t>
            </a:r>
          </a:p>
        </p:txBody>
      </p:sp>
      <p:sp>
        <p:nvSpPr>
          <p:cNvPr id="12" name="verification-footer">
            <a:extLst xmlns:a="http://schemas.openxmlformats.org/drawingml/2006/main">
              <a:ext uri="{FF2B5EF4-FFF2-40B4-BE49-F238E27FC236}">
                <a16:creationId xmlns:a16="http://schemas.microsoft.com/office/drawing/2014/main" id="{019453AC-81C5-41AA-8414-D3337DF8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819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GitHub Actions · 2026-07-03 · PR #3412</a:t>
            </a:r>
          </a:p>
        </p:txBody>
      </p:sp>
    </p:spTree>
    <p:extLst>
      <p:ext uri="{BB962C8B-B14F-4D97-AF65-F5344CB8AC3E}">
        <p14:creationId xmlns:p14="http://schemas.microsoft.com/office/powerpoint/2010/main" val="287628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top-rule"/>
          <p:cNvCxnSpPr/>
          <p:nvPr/>
        </p:nvCxnSpPr>
        <p:spPr>
          <a:xfrm xmlns:a="http://schemas.openxmlformats.org/drawingml/2006/main">
            <a:off x="400050" y="295275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7D0DA"/>
            </a:solidFill>
            <a:prstDash val="solid"/>
          </a:ln>
        </p:spPr>
      </p:cxn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3E9AF65-67B3-4863-AB3A-074C03C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3" name="outcome-eyebrow">
            <a:extLst xmlns:a="http://schemas.openxmlformats.org/drawingml/2006/main">
              <a:ext uri="{FF2B5EF4-FFF2-40B4-BE49-F238E27FC236}">
                <a16:creationId xmlns:a16="http://schemas.microsoft.com/office/drawing/2014/main" id="{3B55777F-727E-439B-B5DE-E93ABA6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Asterinas GDB Helpers</a:t>
            </a:r>
          </a:p>
        </p:txBody>
      </p:sp>
      <p:sp>
        <p:nvSpPr>
          <p:cNvPr id="4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FCB6D125-197F-49AC-930B-39B01EF1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715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从“会用 GDB”
到“看懂 Asterinas 状态”</a:t>
            </a:r>
          </a:p>
        </p:txBody>
      </p:sp>
      <p:sp>
        <p:nvSpPr>
          <p:cNvPr id="5" name="outcome-1">
            <a:extLst xmlns:a="http://schemas.openxmlformats.org/drawingml/2006/main">
              <a:ext uri="{FF2B5EF4-FFF2-40B4-BE49-F238E27FC236}">
                <a16:creationId xmlns:a16="http://schemas.microsoft.com/office/drawing/2014/main" id="{C6691BDC-26A0-4C51-B697-D717353E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6" name="outcome-2">
            <a:extLst xmlns:a="http://schemas.openxmlformats.org/drawingml/2006/main">
              <a:ext uri="{FF2B5EF4-FFF2-40B4-BE49-F238E27FC236}">
                <a16:creationId xmlns:a16="http://schemas.microsoft.com/office/drawing/2014/main" id="{6154F79F-C759-438E-B3C9-D752898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3238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7" name="outcome-3">
            <a:extLst xmlns:a="http://schemas.openxmlformats.org/drawingml/2006/main">
              <a:ext uri="{FF2B5EF4-FFF2-40B4-BE49-F238E27FC236}">
                <a16:creationId xmlns:a16="http://schemas.microsoft.com/office/drawing/2014/main" id="{6C580A77-DB95-463D-A753-E0100AE3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3619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D"/>
          </a:solidFill>
          <a:ln xmlns:a="http://schemas.openxmlformats.org/drawingml/2006/main" w="9525">
            <a:solidFill>
              <a:srgbClr val="BCE5F5"/>
            </a:solidFill>
            <a:prstDash val="solid"/>
          </a:ln>
        </p:spPr>
      </p:sp>
      <p:sp>
        <p:nvSpPr>
          <p:cNvPr id="8" name="outcome-1-title">
            <a:extLst xmlns:a="http://schemas.openxmlformats.org/drawingml/2006/main">
              <a:ext uri="{FF2B5EF4-FFF2-40B4-BE49-F238E27FC236}">
                <a16:creationId xmlns:a16="http://schemas.microsoft.com/office/drawing/2014/main" id="{80C4700E-AC6C-4D23-9569-AD604B2C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零侵入</a:t>
            </a:r>
          </a:p>
        </p:txBody>
      </p:sp>
      <p:sp>
        <p:nvSpPr>
          <p:cNvPr id="9" name="outcome-1-body">
            <a:extLst xmlns:a="http://schemas.openxmlformats.org/drawingml/2006/main">
              <a:ext uri="{FF2B5EF4-FFF2-40B4-BE49-F238E27FC236}">
                <a16:creationId xmlns:a16="http://schemas.microsoft.com/office/drawing/2014/main" id="{D90BB344-6999-45E5-8129-78B8C47B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依赖 DWARF、GDB Python
和现有内核对象。</a:t>
            </a:r>
          </a:p>
        </p:txBody>
      </p:sp>
      <p:sp>
        <p:nvSpPr>
          <p:cNvPr id="10" name="outcome-2-title">
            <a:extLst xmlns:a="http://schemas.openxmlformats.org/drawingml/2006/main">
              <a:ext uri="{FF2B5EF4-FFF2-40B4-BE49-F238E27FC236}">
                <a16:creationId xmlns:a16="http://schemas.microsoft.com/office/drawing/2014/main" id="{ACBC020E-4734-4CC7-B592-C8106B5F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957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开箱可用</a:t>
            </a:r>
          </a:p>
        </p:txBody>
      </p:sp>
      <p:sp>
        <p:nvSpPr>
          <p:cNvPr id="11" name="outcome-2-body">
            <a:extLst xmlns:a="http://schemas.openxmlformats.org/drawingml/2006/main">
              <a:ext uri="{FF2B5EF4-FFF2-40B4-BE49-F238E27FC236}">
                <a16:creationId xmlns:a16="http://schemas.microsoft.com/office/drawing/2014/main" id="{FD23955A-86F0-4A26-A98D-9B31B8D7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14800"/>
            <a:ext cx="228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OSDK 自动加载 helpers，
高频命令可直接调用。</a:t>
            </a:r>
          </a:p>
        </p:txBody>
      </p:sp>
      <p:sp>
        <p:nvSpPr>
          <p:cNvPr id="12" name="outcome-3-title">
            <a:extLst xmlns:a="http://schemas.openxmlformats.org/drawingml/2006/main">
              <a:ext uri="{FF2B5EF4-FFF2-40B4-BE49-F238E27FC236}">
                <a16:creationId xmlns:a16="http://schemas.microsoft.com/office/drawing/2014/main" id="{4F1917A9-1D4C-403C-8F08-3DA4F4B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726"/>
                </a:solidFill>
                <a:latin typeface="Arial"/>
                <a:ea typeface="Arial"/>
                <a:cs typeface="Arial"/>
              </a:defRPr>
            </a:pPr>
            <a:r>
              <a:t>可持续演进</a:t>
            </a:r>
          </a:p>
        </p:txBody>
      </p:sp>
      <p:sp>
        <p:nvSpPr>
          <p:cNvPr id="13" name="outcome-3-body">
            <a:extLst xmlns:a="http://schemas.openxmlformats.org/drawingml/2006/main">
              <a:ext uri="{FF2B5EF4-FFF2-40B4-BE49-F238E27FC236}">
                <a16:creationId xmlns:a16="http://schemas.microsoft.com/office/drawing/2014/main" id="{7E9D92E5-584F-4746-ACA4-6FF128E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2762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真实 QEMU + GDB smoke test
防止布局变更后的静默失效。</a:t>
            </a:r>
          </a:p>
        </p:txBody>
      </p:sp>
      <p:sp>
        <p:nvSpPr>
          <p:cNvPr id="14" name="outcome-next">
            <a:extLst xmlns:a="http://schemas.openxmlformats.org/drawingml/2006/main">
              <a:ext uri="{FF2B5EF4-FFF2-40B4-BE49-F238E27FC236}">
                <a16:creationId xmlns:a16="http://schemas.microsoft.com/office/drawing/2014/main" id="{7FB47314-017E-4AE0-AAC0-822CEAB9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52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CB"/>
                </a:solidFill>
                <a:latin typeface="Arial"/>
                <a:ea typeface="Arial"/>
                <a:cs typeface="Arial"/>
              </a:defRPr>
            </a:pPr>
            <a:r>
              <a:t>下一步：调度 · 内存 · 锁竞争 · 网络诊断</a:t>
            </a:r>
          </a:p>
        </p:txBody>
      </p:sp>
      <p:sp>
        <p:nvSpPr>
          <p:cNvPr id="15" name="outcome-links">
            <a:extLst xmlns:a="http://schemas.openxmlformats.org/drawingml/2006/main">
              <a:ext uri="{FF2B5EF4-FFF2-40B4-BE49-F238E27FC236}">
                <a16:creationId xmlns:a16="http://schemas.microsoft.com/office/drawing/2014/main" id="{F35DC1F0-003D-4D51-9682-3F03E1B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981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71"/>
                </a:solidFill>
                <a:latin typeface="Arial"/>
                <a:ea typeface="Arial"/>
                <a:cs typeface="Arial"/>
              </a:defRPr>
            </a:pPr>
            <a:r>
              <a:t>PR #3412  ·  Issue #3094  ·  github.com/zevorn/asterinas</a:t>
            </a:r>
          </a:p>
        </p:txBody>
      </p:sp>
    </p:spTree>
    <p:extLst>
      <p:ext uri="{BB962C8B-B14F-4D97-AF65-F5344CB8AC3E}">
        <p14:creationId xmlns:p14="http://schemas.microsoft.com/office/powerpoint/2010/main" val="1878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2026-07-10T11:54:09.2760000Z</dcterms:created>
  <dcterms:modified xsi:type="dcterms:W3CDTF">2026-07-10T11:54:09.2760000Z</dcterms:modified>
</coreProperties>
</file>